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 am presenting CryptoGuard, a software supply-chain integrity framework for this advanced module on hash functions, message authentication, and digital signatures.</a:t>
            </a:r>
          </a:p>
          <a:p>
            <a:r>
              <a:t>CryptoGuard does not treat a familiar filename as proof. It calculates a real SHA-256 digest, checks an HMAC-SHA256 tag, and verifies an RSA-PSS signature. Each result is labeled with what it proves, and with what it does not prove.</a:t>
            </a:r>
          </a:p>
          <a:p>
            <a:r>
              <a:t>Please replace the placeholders on this slide with our institution, my name, my roll number, the guide’s name, and the academic year before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company receives a vendor update. The file is named harborline-agent-1.4.0.zip. The name is familiar, so someone may install it.</a:t>
            </a:r>
          </a:p>
          <a:p>
            <a:r>
              <a:t>A filename is only a label. It does not describe the bytes. If the file changed on the way, the name can still look correct.</a:t>
            </a:r>
          </a:p>
          <a:p>
            <a:r>
              <a:t>CryptoGuard’s first job is to make that difference visible: calculate the SHA-256 digest of the received file and compare it with a reference taken from a channel the receiver already trusts.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precise problem is that a hash, a message authentication code, and a digital signature are often treated as the same kind of trust.</a:t>
            </a:r>
          </a:p>
          <a:p>
            <a:r>
              <a:t>CryptoGuard separates them. The current application implements file hashing, HMAC, RSA-PSS signatures, a small provenance record, manifest parsing, live OSV queries, CycloneDX SBOMs, and local history.</a:t>
            </a:r>
          </a:p>
          <a:p>
            <a:r>
              <a:t>It does not implement accounts, malware detection, or a full SLSA attestation system. Those belong in future work, not in today’s claim.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hash, an HMAC, and a signature are not three ways of saying the same thing.</a:t>
            </a:r>
          </a:p>
          <a:p>
            <a:r>
              <a:t>SHA-256 detects a change in bytes if you already have a trusted reference. Anyone can recompute it. It has no key.</a:t>
            </a:r>
          </a:p>
          <a:p>
            <a:r>
              <a:t>HMAC-SHA256 shows that someone who knows the shared secret produced the tag. It does not give public identity, and it does not give non-repudiation, because both sides know the secret.</a:t>
            </a:r>
          </a:p>
          <a:p>
            <a:r>
              <a:t>RSA-PSS lets a private key sign and a public key verify. CryptoGuard can show that this public key accepts this signature. It can name a person only when that public key is trusted for a separate reason.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is a React and TypeScript application served by Vite. Axios calls the API. In development, Vite can proxy /api to 127.0.0.1 port 8000.</a:t>
            </a:r>
          </a:p>
          <a:p>
            <a:r>
              <a:t>The backend is FastAPI on Uvicorn. Routes in backend/app/api/routes.py call services. Hashing is in integrity.py and files.py. HMAC is in hmac_service.py. RSA-PSS is in signatures.py.</a:t>
            </a:r>
          </a:p>
          <a:p>
            <a:r>
              <a:t>SQLAlchemy stores sanitized history in SQLite. OSV is a live external query. NVD is implemented but disabled unless NVD_ENABLED is true. CycloneDX validation uses the schema file shipped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Hash Checker page I upload a small file. Calculate SHA-256 streams the file through hashlib.sha256 and shows the digest. The verdict is NOT VERIFIED, because no reference was compared.</a:t>
            </a:r>
          </a:p>
          <a:p>
            <a:r>
              <a:t>I paste that digest and choose Compare Hashes. The API normalizes the reference, including an optional sha256: prefix, and compares it with hmac.compare_digest. The screen says PASS. The stored verdict is MATCH.</a:t>
            </a:r>
          </a:p>
          <a:p>
            <a:r>
              <a:t>I change one hexadecimal character and compare again. The screen says FAIL. The stored verdict is MISMATCH. That proves the bytes differ from the reference I typed. It does not say who changed the file, and it does not say the original file was safe.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HMAC is a shared-secret check. If I leave the secret blank, generate_secret uses secrets.token_hex(32), a 256-bit value shown as 64 hex characters. compute_tag uses HMAC-SHA256 over the UTF-8 message.</a:t>
            </a:r>
          </a:p>
          <a:p>
            <a:r>
              <a:t>The tag and the secret come back to the browser so I can copy them. The history row does not contain them. The test reads the SQLite file and asserts that the secret and the tag are absent.</a:t>
            </a:r>
          </a:p>
          <a:p>
            <a:r>
              <a:t>Verify recomputes the tag and uses compare_digest. PASS means VALID. If I change the message, the same secret and tag produce FAIL, stored as INVALID. The API does not say whether the message, the secret, or the tag was wrong.</a:t>
            </a:r>
          </a:p>
          <a:p>
            <a:r>
              <a:t>This is not a digital signature. Both sides can create the tag, so I do not claim non-repudiation.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generation uses RSA with a 2048-bit modulus and public exponent 65537. The private key is unencrypted PKCS#8 PEM. The public key is SubjectPublicKeyInfo PEM. A pasted key smaller than 2048 bits is rejected.</a:t>
            </a:r>
          </a:p>
          <a:p>
            <a:r>
              <a:t>Signing covers the exact UTF-8 message, with no added newline. The padding is RSA-PSS, MGF1 with SHA-256, and a salt length equal to the SHA-256 digest length, 32 bytes. The signature is base64.</a:t>
            </a:r>
          </a:p>
          <a:p>
            <a:r>
              <a:t>Verification uses the public key. PASS means that key accepts the signature over those bytes. If I edit the message and keep the signature, verification returns FAIL.</a:t>
            </a:r>
          </a:p>
          <a:p>
            <a:r>
              <a:t>The private key is returned once and is not stored. A valid result still does not name a person unless I already trust that public key.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demonstration map, not a screenshot. I will use the live application.</a:t>
            </a:r>
          </a:p>
          <a:p>
            <a:r>
              <a:t>Hash Checker at /integrity: calculate, compare for PASS, change one hex character for FAIL.</a:t>
            </a:r>
          </a:p>
          <a:p>
            <a:r>
              <a:t>HMAC Verifier at /hmac: generate a tag, verify PASS, change the message, verify FAIL, then clear the secret.</a:t>
            </a:r>
          </a:p>
          <a:p>
            <a:r>
              <a:t>Digital Signatures at /signatures: generate a key pair, sign the release line, verify PASS, edit the line, verify FAIL.</a:t>
            </a:r>
          </a:p>
          <a:p>
            <a:r>
              <a:t>If time remains, open Reports at /history and show the new rows, the CSV export, and one JSON report. I will not claim a result that the screen does not show.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study is hypothetical. It is not a report of a real company or a real incident.</a:t>
            </a:r>
          </a:p>
          <a:p>
            <a:r>
              <a:t>Harborline Instruments receives a vendor update with the expected filename. CryptoGuard can compare the file with the vendor’s published SHA-256 value. A mismatch is a reason to stop. A match shows byte equality with that reference only.</a:t>
            </a:r>
          </a:p>
          <a:p>
            <a:r>
              <a:t>A signed release note can be checked with RSA-PSS if Harborline already holds the vendor’s public key through a trusted channel. HMAC fits a different workflow: two internal systems that already share a secret.</a:t>
            </a:r>
          </a:p>
          <a:p>
            <a:r>
              <a:t>If verification fails, the company should not install the file. Obtaining the key, scanning for malware, and producing SLSA provenance require controls beyond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were produced on 19 October 2026. I am not quoting a percentage from another source.</a:t>
            </a:r>
          </a:p>
          <a:p>
            <a:r>
              <a:t>From the backend virtual environment, pytest reported 25 passed and 1 skipped. The skipped test is the live OSV call. It runs only when CRYPTOGUARD_LIVE_API equals 1. That skip is not a cryptographic failure.</a:t>
            </a:r>
          </a:p>
          <a:p>
            <a:r>
              <a:t>In the frontend, npm test ran Vitest: 6 files and 19 tests passed. Those tests check form validation, the PASS and FAIL labels, navigation, and mocked API errors.</a:t>
            </a:r>
          </a:p>
          <a:p>
            <a:r>
              <a:t>The cryptographic tests cover a matching digest, a mismatch, a tampered HMAC message, a secret absent from SQLite, a changed signature message, a wrong public key, a 1024-bit key rejection, and CSV history.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threat model is local and honest about its boundary.</a:t>
            </a:r>
          </a:p>
          <a:p>
            <a:r>
              <a:t>CryptoGuard can show byte inequality, an HMAC mismatch, and a signature rejection. Digest comparison uses hmac.compare_digest. Uploads stop at 10 MiB by default. Only the base file name is stored. Secrets and private keys are kept out of the history metadata.</a:t>
            </a:r>
          </a:p>
          <a:p>
            <a:r>
              <a:t>The trust assumptions are outside the algorithms. The reference digest must come from a trustworthy place. The public key must already belong to the signer the user intends. The person operating the browser must protect the secret and the private key, because the server returns them and does not store them.</a:t>
            </a:r>
          </a:p>
          <a:p>
            <a:r>
              <a:t>A malicious reference, a stolen HMAC secret, or a stolen private key defeats the corresponding check. The application also does not detect malware.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keep the boundary clear.</a:t>
            </a:r>
          </a:p>
          <a:p>
            <a:r>
              <a:t>The application does hash files, verify HMAC tags, generate and check RSA-PSS signatures, verify a small provenance record, parse npm and Python manifests, query OSV, generate a CycloneDX 1.7 SBOM, and export history.</a:t>
            </a:r>
          </a:p>
          <a:p>
            <a:r>
              <a:t>It does not create accounts, install packages, detect malware, or implement SLSA, in-toto, or Sigstore. NVD lookup exists and is disabled by default. PostgreSQL is a possible later database, not a tested deployment. There is no Alembic migration.</a:t>
            </a:r>
          </a:p>
          <a:p>
            <a:r>
              <a:t>If I had another semester, I would bind public keys to named identities, encrypt private keys at rest, and add a repeatable live-OSV demonstration that is marked as a network check rather than a safety proof.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CryptoGuard is a teaching platform that runs three different cryptographic checks and refuses to blur them.</a:t>
            </a:r>
          </a:p>
          <a:p>
            <a:r>
              <a:t>SHA-256 answers whether the bytes match a reference. HMAC-SHA256 answers whether the shared secret authenticates the message. RSA-PSS answers whether the supplied public key accepts the signature. Supply-chain pages add OSV evidence and an SBOM, with their own limits.</a:t>
            </a:r>
          </a:p>
          <a:p>
            <a:r>
              <a:t>The tests I reported passed, with the live OSV test skipped. The important limit remains: a successful check is evidence about the inputs I supplied. It is not a complete statement that the software is safe.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a:t>
            </a:r>
          </a:p>
          <a:p>
            <a:r>
              <a:t>If you would like to see the running system, the site is on port 5173, the health check is /api/health on port 8000, and the interactive API documentation is /docs.</a:t>
            </a:r>
          </a:p>
          <a:p>
            <a:r>
              <a:t>I will answer from the implementation: SHA-256, HMAC-SHA256, and RSA-PSS, and I will say when a control is outside the project.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384048"/>
            <a:ext cx="10058400" cy="256032"/>
          </a:xfrm>
          <a:prstGeom prst="rect">
            <a:avLst/>
          </a:prstGeom>
          <a:noFill/>
        </p:spPr>
        <p:txBody>
          <a:bodyPr wrap="square" anchor="t" lIns="0" rIns="0" tIns="0" bIns="0"/>
          <a:lstStyle/>
          <a:p>
            <a:pPr algn="l">
              <a:spcBef>
                <a:spcPts val="0"/>
              </a:spcBef>
              <a:spcAft>
                <a:spcPts val="200"/>
              </a:spcAft>
            </a:pPr>
            <a:r>
              <a:rPr sz="1300" b="1" i="0">
                <a:solidFill>
                  <a:srgbClr val="4CC9F0"/>
                </a:solidFill>
                <a:latin typeface="Calibri"/>
              </a:rPr>
              <a:t>ADVANCED LEVEL  ·  HASH FUNCTIONS, MESSAGE AUTHENTICATION AND DIGITAL SIGNATURES</a:t>
            </a:r>
          </a:p>
        </p:txBody>
      </p:sp>
      <p:sp>
        <p:nvSpPr>
          <p:cNvPr id="4" name="TextBox 3"/>
          <p:cNvSpPr txBox="1"/>
          <p:nvPr/>
        </p:nvSpPr>
        <p:spPr>
          <a:xfrm>
            <a:off x="438912" y="1234440"/>
            <a:ext cx="10972800" cy="749808"/>
          </a:xfrm>
          <a:prstGeom prst="rect">
            <a:avLst/>
          </a:prstGeom>
          <a:noFill/>
        </p:spPr>
        <p:txBody>
          <a:bodyPr wrap="square" anchor="t" lIns="0" rIns="0" tIns="0" bIns="0"/>
          <a:lstStyle/>
          <a:p>
            <a:pPr algn="l">
              <a:spcBef>
                <a:spcPts val="0"/>
              </a:spcBef>
              <a:spcAft>
                <a:spcPts val="200"/>
              </a:spcAft>
            </a:pPr>
            <a:r>
              <a:rPr sz="5400" b="1" i="0">
                <a:solidFill>
                  <a:srgbClr val="FFFFFF"/>
                </a:solidFill>
                <a:latin typeface="Calibri"/>
              </a:rPr>
              <a:t>CryptoGuard</a:t>
            </a:r>
          </a:p>
        </p:txBody>
      </p:sp>
      <p:sp>
        <p:nvSpPr>
          <p:cNvPr id="5" name="TextBox 4"/>
          <p:cNvSpPr txBox="1"/>
          <p:nvPr/>
        </p:nvSpPr>
        <p:spPr>
          <a:xfrm>
            <a:off x="438912" y="2057400"/>
            <a:ext cx="10515600" cy="640080"/>
          </a:xfrm>
          <a:prstGeom prst="rect">
            <a:avLst/>
          </a:prstGeom>
          <a:noFill/>
        </p:spPr>
        <p:txBody>
          <a:bodyPr wrap="square" anchor="t" lIns="0" rIns="0" tIns="0" bIns="0"/>
          <a:lstStyle/>
          <a:p>
            <a:pPr algn="l">
              <a:spcBef>
                <a:spcPts val="0"/>
              </a:spcBef>
              <a:spcAft>
                <a:spcPts val="200"/>
              </a:spcAft>
            </a:pPr>
            <a:r>
              <a:rPr sz="2600" b="1" i="0">
                <a:solidFill>
                  <a:srgbClr val="7DB7FF"/>
                </a:solidFill>
                <a:latin typeface="Calibri"/>
              </a:rPr>
              <a:t>Software Supply Chain Integrity Verification Framework</a:t>
            </a:r>
          </a:p>
        </p:txBody>
      </p:sp>
      <p:sp>
        <p:nvSpPr>
          <p:cNvPr id="6" name="TextBox 5"/>
          <p:cNvSpPr txBox="1"/>
          <p:nvPr/>
        </p:nvSpPr>
        <p:spPr>
          <a:xfrm>
            <a:off x="438912" y="2880360"/>
            <a:ext cx="9601200" cy="365760"/>
          </a:xfrm>
          <a:prstGeom prst="rect">
            <a:avLst/>
          </a:prstGeom>
          <a:noFill/>
        </p:spPr>
        <p:txBody>
          <a:bodyPr wrap="square" anchor="t" lIns="0" rIns="0" tIns="0" bIns="0"/>
          <a:lstStyle/>
          <a:p>
            <a:pPr algn="l">
              <a:spcBef>
                <a:spcPts val="0"/>
              </a:spcBef>
              <a:spcAft>
                <a:spcPts val="200"/>
              </a:spcAft>
            </a:pPr>
            <a:r>
              <a:rPr sz="1800" b="0" i="0">
                <a:solidFill>
                  <a:srgbClr val="C5D2E4"/>
                </a:solidFill>
                <a:latin typeface="Calibri"/>
              </a:rPr>
              <a:t>Verify integrity.  Authenticate messages.  Check digital signatures.</a:t>
            </a:r>
          </a:p>
        </p:txBody>
      </p:sp>
      <p:sp>
        <p:nvSpPr>
          <p:cNvPr id="7" name="Rounded Rectangle 6"/>
          <p:cNvSpPr/>
          <p:nvPr/>
        </p:nvSpPr>
        <p:spPr>
          <a:xfrm>
            <a:off x="438912" y="3977639"/>
            <a:ext cx="2724912" cy="105156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4096512"/>
            <a:ext cx="2432304" cy="219456"/>
          </a:xfrm>
          <a:prstGeom prst="rect">
            <a:avLst/>
          </a:prstGeom>
          <a:noFill/>
        </p:spPr>
        <p:txBody>
          <a:bodyPr wrap="square" anchor="t" lIns="0" rIns="0" tIns="0" bIns="0"/>
          <a:lstStyle/>
          <a:p>
            <a:pPr algn="l">
              <a:spcBef>
                <a:spcPts val="0"/>
              </a:spcBef>
              <a:spcAft>
                <a:spcPts val="200"/>
              </a:spcAft>
            </a:pPr>
            <a:r>
              <a:rPr sz="1100" b="1" i="0">
                <a:solidFill>
                  <a:srgbClr val="4CC9F0"/>
                </a:solidFill>
                <a:latin typeface="Calibri"/>
              </a:rPr>
              <a:t>INSTITUTION</a:t>
            </a:r>
          </a:p>
        </p:txBody>
      </p:sp>
      <p:sp>
        <p:nvSpPr>
          <p:cNvPr id="9" name="TextBox 8"/>
          <p:cNvSpPr txBox="1"/>
          <p:nvPr/>
        </p:nvSpPr>
        <p:spPr>
          <a:xfrm>
            <a:off x="585216" y="4370832"/>
            <a:ext cx="2432304" cy="475488"/>
          </a:xfrm>
          <a:prstGeom prst="rect">
            <a:avLst/>
          </a:prstGeom>
          <a:noFill/>
        </p:spPr>
        <p:txBody>
          <a:bodyPr wrap="square" anchor="t" lIns="0" rIns="0" tIns="0" bIns="0"/>
          <a:lstStyle/>
          <a:p>
            <a:pPr algn="l">
              <a:spcBef>
                <a:spcPts val="0"/>
              </a:spcBef>
              <a:spcAft>
                <a:spcPts val="200"/>
              </a:spcAft>
            </a:pPr>
            <a:r>
              <a:rPr sz="1400" b="1" i="0">
                <a:solidFill>
                  <a:srgbClr val="FFFFFF"/>
                </a:solidFill>
                <a:latin typeface="Calibri"/>
              </a:rPr>
              <a:t>[Institution name]</a:t>
            </a:r>
          </a:p>
        </p:txBody>
      </p:sp>
      <p:sp>
        <p:nvSpPr>
          <p:cNvPr id="10" name="Rounded Rectangle 9"/>
          <p:cNvSpPr/>
          <p:nvPr/>
        </p:nvSpPr>
        <p:spPr>
          <a:xfrm>
            <a:off x="3319272" y="3977639"/>
            <a:ext cx="2724912" cy="105156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5576" y="4096512"/>
            <a:ext cx="2432304" cy="219456"/>
          </a:xfrm>
          <a:prstGeom prst="rect">
            <a:avLst/>
          </a:prstGeom>
          <a:noFill/>
        </p:spPr>
        <p:txBody>
          <a:bodyPr wrap="square" anchor="t" lIns="0" rIns="0" tIns="0" bIns="0"/>
          <a:lstStyle/>
          <a:p>
            <a:pPr algn="l">
              <a:spcBef>
                <a:spcPts val="0"/>
              </a:spcBef>
              <a:spcAft>
                <a:spcPts val="200"/>
              </a:spcAft>
            </a:pPr>
            <a:r>
              <a:rPr sz="1100" b="1" i="0">
                <a:solidFill>
                  <a:srgbClr val="4CC9F0"/>
                </a:solidFill>
                <a:latin typeface="Calibri"/>
              </a:rPr>
              <a:t>STUDENT</a:t>
            </a:r>
          </a:p>
        </p:txBody>
      </p:sp>
      <p:sp>
        <p:nvSpPr>
          <p:cNvPr id="12" name="TextBox 11"/>
          <p:cNvSpPr txBox="1"/>
          <p:nvPr/>
        </p:nvSpPr>
        <p:spPr>
          <a:xfrm>
            <a:off x="3465576" y="4370832"/>
            <a:ext cx="2432304" cy="475488"/>
          </a:xfrm>
          <a:prstGeom prst="rect">
            <a:avLst/>
          </a:prstGeom>
          <a:noFill/>
        </p:spPr>
        <p:txBody>
          <a:bodyPr wrap="square" anchor="t" lIns="0" rIns="0" tIns="0" bIns="0"/>
          <a:lstStyle/>
          <a:p>
            <a:pPr algn="l">
              <a:spcBef>
                <a:spcPts val="0"/>
              </a:spcBef>
              <a:spcAft>
                <a:spcPts val="200"/>
              </a:spcAft>
            </a:pPr>
            <a:r>
              <a:rPr sz="1400" b="1" i="0">
                <a:solidFill>
                  <a:srgbClr val="FFFFFF"/>
                </a:solidFill>
                <a:latin typeface="Calibri"/>
              </a:rPr>
              <a:t>[Student name, roll number]</a:t>
            </a:r>
          </a:p>
        </p:txBody>
      </p:sp>
      <p:sp>
        <p:nvSpPr>
          <p:cNvPr id="13" name="Rounded Rectangle 12"/>
          <p:cNvSpPr/>
          <p:nvPr/>
        </p:nvSpPr>
        <p:spPr>
          <a:xfrm>
            <a:off x="6199631" y="3977639"/>
            <a:ext cx="2724912" cy="105156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4096512"/>
            <a:ext cx="2432304" cy="219456"/>
          </a:xfrm>
          <a:prstGeom prst="rect">
            <a:avLst/>
          </a:prstGeom>
          <a:noFill/>
        </p:spPr>
        <p:txBody>
          <a:bodyPr wrap="square" anchor="t" lIns="0" rIns="0" tIns="0" bIns="0"/>
          <a:lstStyle/>
          <a:p>
            <a:pPr algn="l">
              <a:spcBef>
                <a:spcPts val="0"/>
              </a:spcBef>
              <a:spcAft>
                <a:spcPts val="200"/>
              </a:spcAft>
            </a:pPr>
            <a:r>
              <a:rPr sz="1100" b="1" i="0">
                <a:solidFill>
                  <a:srgbClr val="4CC9F0"/>
                </a:solidFill>
                <a:latin typeface="Calibri"/>
              </a:rPr>
              <a:t>GUIDE</a:t>
            </a:r>
          </a:p>
        </p:txBody>
      </p:sp>
      <p:sp>
        <p:nvSpPr>
          <p:cNvPr id="15" name="TextBox 14"/>
          <p:cNvSpPr txBox="1"/>
          <p:nvPr/>
        </p:nvSpPr>
        <p:spPr>
          <a:xfrm>
            <a:off x="6345936" y="4370832"/>
            <a:ext cx="2432304" cy="475488"/>
          </a:xfrm>
          <a:prstGeom prst="rect">
            <a:avLst/>
          </a:prstGeom>
          <a:noFill/>
        </p:spPr>
        <p:txBody>
          <a:bodyPr wrap="square" anchor="t" lIns="0" rIns="0" tIns="0" bIns="0"/>
          <a:lstStyle/>
          <a:p>
            <a:pPr algn="l">
              <a:spcBef>
                <a:spcPts val="0"/>
              </a:spcBef>
              <a:spcAft>
                <a:spcPts val="200"/>
              </a:spcAft>
            </a:pPr>
            <a:r>
              <a:rPr sz="1400" b="1" i="0">
                <a:solidFill>
                  <a:srgbClr val="FFFFFF"/>
                </a:solidFill>
                <a:latin typeface="Calibri"/>
              </a:rPr>
              <a:t>[Guide name]</a:t>
            </a:r>
          </a:p>
        </p:txBody>
      </p:sp>
      <p:sp>
        <p:nvSpPr>
          <p:cNvPr id="16" name="Rounded Rectangle 15"/>
          <p:cNvSpPr/>
          <p:nvPr/>
        </p:nvSpPr>
        <p:spPr>
          <a:xfrm>
            <a:off x="9079992" y="3977639"/>
            <a:ext cx="2724912" cy="105156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26296" y="4096512"/>
            <a:ext cx="2432304" cy="219456"/>
          </a:xfrm>
          <a:prstGeom prst="rect">
            <a:avLst/>
          </a:prstGeom>
          <a:noFill/>
        </p:spPr>
        <p:txBody>
          <a:bodyPr wrap="square" anchor="t" lIns="0" rIns="0" tIns="0" bIns="0"/>
          <a:lstStyle/>
          <a:p>
            <a:pPr algn="l">
              <a:spcBef>
                <a:spcPts val="0"/>
              </a:spcBef>
              <a:spcAft>
                <a:spcPts val="200"/>
              </a:spcAft>
            </a:pPr>
            <a:r>
              <a:rPr sz="1100" b="1" i="0">
                <a:solidFill>
                  <a:srgbClr val="4CC9F0"/>
                </a:solidFill>
                <a:latin typeface="Calibri"/>
              </a:rPr>
              <a:t>ACADEMIC YEAR</a:t>
            </a:r>
          </a:p>
        </p:txBody>
      </p:sp>
      <p:sp>
        <p:nvSpPr>
          <p:cNvPr id="18" name="TextBox 17"/>
          <p:cNvSpPr txBox="1"/>
          <p:nvPr/>
        </p:nvSpPr>
        <p:spPr>
          <a:xfrm>
            <a:off x="9226296" y="4370832"/>
            <a:ext cx="2432304" cy="475488"/>
          </a:xfrm>
          <a:prstGeom prst="rect">
            <a:avLst/>
          </a:prstGeom>
          <a:noFill/>
        </p:spPr>
        <p:txBody>
          <a:bodyPr wrap="square" anchor="t" lIns="0" rIns="0" tIns="0" bIns="0"/>
          <a:lstStyle/>
          <a:p>
            <a:pPr algn="l">
              <a:spcBef>
                <a:spcPts val="0"/>
              </a:spcBef>
              <a:spcAft>
                <a:spcPts val="200"/>
              </a:spcAft>
            </a:pPr>
            <a:r>
              <a:rPr sz="1400" b="1" i="0">
                <a:solidFill>
                  <a:srgbClr val="FFFFFF"/>
                </a:solidFill>
                <a:latin typeface="Calibri"/>
              </a:rPr>
              <a:t>[Academic year]</a:t>
            </a:r>
          </a:p>
        </p:txBody>
      </p:sp>
      <p:sp>
        <p:nvSpPr>
          <p:cNvPr id="19" name="TextBox 18"/>
          <p:cNvSpPr txBox="1"/>
          <p:nvPr/>
        </p:nvSpPr>
        <p:spPr>
          <a:xfrm>
            <a:off x="438912" y="5257800"/>
            <a:ext cx="11155680" cy="640080"/>
          </a:xfrm>
          <a:prstGeom prst="rect">
            <a:avLst/>
          </a:prstGeom>
          <a:noFill/>
        </p:spPr>
        <p:txBody>
          <a:bodyPr wrap="square" anchor="t" lIns="0" rIns="0" tIns="0" bIns="0"/>
          <a:lstStyle/>
          <a:p>
            <a:pPr algn="l">
              <a:spcBef>
                <a:spcPts val="0"/>
              </a:spcBef>
              <a:spcAft>
                <a:spcPts val="200"/>
              </a:spcAft>
            </a:pPr>
            <a:r>
              <a:rPr sz="1400" b="0" i="0">
                <a:solidFill>
                  <a:srgbClr val="8EA2BB"/>
                </a:solidFill>
                <a:latin typeface="Calibri"/>
              </a:rPr>
              <a:t>Implemented product name in the application:</a:t>
            </a:r>
          </a:p>
          <a:p>
            <a:pPr algn="l">
              <a:spcBef>
                <a:spcPts val="0"/>
              </a:spcBef>
              <a:spcAft>
                <a:spcPts val="200"/>
              </a:spcAft>
            </a:pPr>
            <a:r>
              <a:rPr sz="1400" b="0" i="0">
                <a:solidFill>
                  <a:srgbClr val="8EA2BB"/>
                </a:solidFill>
                <a:latin typeface="Calibri"/>
              </a:rPr>
              <a:t>CryptoGuard — Cryptographic Integrity and Software Supply Chain Verification Platform</a:t>
            </a:r>
          </a:p>
        </p:txBody>
      </p:sp>
      <p:sp>
        <p:nvSpPr>
          <p:cNvPr id="20" name="TextBox 19"/>
          <p:cNvSpPr txBox="1"/>
          <p:nvPr/>
        </p:nvSpPr>
        <p:spPr>
          <a:xfrm>
            <a:off x="438912" y="6263640"/>
            <a:ext cx="10972800" cy="256032"/>
          </a:xfrm>
          <a:prstGeom prst="rect">
            <a:avLst/>
          </a:prstGeom>
          <a:noFill/>
        </p:spPr>
        <p:txBody>
          <a:bodyPr wrap="square" anchor="t" lIns="0" rIns="0" tIns="0" bIns="0"/>
          <a:lstStyle/>
          <a:p>
            <a:pPr algn="l">
              <a:spcBef>
                <a:spcPts val="0"/>
              </a:spcBef>
              <a:spcAft>
                <a:spcPts val="200"/>
              </a:spcAft>
            </a:pPr>
            <a:r>
              <a:rPr sz="1400" b="0" i="0">
                <a:solidFill>
                  <a:srgbClr val="C5D2E4"/>
                </a:solidFill>
                <a:latin typeface="Calibri"/>
              </a:rPr>
              <a:t>Local academic MVP   ·   React frontend   ·   FastAPI backend   ·   SQLite history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37744"/>
            <a:ext cx="9144000" cy="256032"/>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THE REAL PROBLEM</a:t>
            </a:r>
          </a:p>
        </p:txBody>
      </p:sp>
      <p:sp>
        <p:nvSpPr>
          <p:cNvPr id="4" name="TextBox 3"/>
          <p:cNvSpPr txBox="1"/>
          <p:nvPr/>
        </p:nvSpPr>
        <p:spPr>
          <a:xfrm>
            <a:off x="384048" y="475488"/>
            <a:ext cx="11338560" cy="438912"/>
          </a:xfrm>
          <a:prstGeom prst="rect">
            <a:avLst/>
          </a:prstGeom>
          <a:noFill/>
        </p:spPr>
        <p:txBody>
          <a:bodyPr wrap="square" anchor="t" lIns="0" rIns="0" tIns="0" bIns="0"/>
          <a:lstStyle/>
          <a:p>
            <a:pPr algn="l">
              <a:spcBef>
                <a:spcPts val="0"/>
              </a:spcBef>
              <a:spcAft>
                <a:spcPts val="200"/>
              </a:spcAft>
            </a:pPr>
            <a:r>
              <a:rPr sz="3000" b="1" i="0">
                <a:solidFill>
                  <a:srgbClr val="FFFFFF"/>
                </a:solidFill>
                <a:latin typeface="Calibri"/>
              </a:rPr>
              <a:t>A familiar filename is not integrity</a:t>
            </a:r>
          </a:p>
        </p:txBody>
      </p:sp>
      <p:sp>
        <p:nvSpPr>
          <p:cNvPr id="5" name="Rounded Rectangle 4"/>
          <p:cNvSpPr/>
          <p:nvPr/>
        </p:nvSpPr>
        <p:spPr>
          <a:xfrm>
            <a:off x="384048" y="1234440"/>
            <a:ext cx="6903720" cy="498348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1389888"/>
            <a:ext cx="6492240" cy="256032"/>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HYPOTHETICAL RELEASE</a:t>
            </a:r>
          </a:p>
        </p:txBody>
      </p:sp>
      <p:sp>
        <p:nvSpPr>
          <p:cNvPr id="7" name="TextBox 6"/>
          <p:cNvSpPr txBox="1"/>
          <p:nvPr/>
        </p:nvSpPr>
        <p:spPr>
          <a:xfrm>
            <a:off x="603504" y="1700784"/>
            <a:ext cx="6492240" cy="640080"/>
          </a:xfrm>
          <a:prstGeom prst="rect">
            <a:avLst/>
          </a:prstGeom>
          <a:noFill/>
        </p:spPr>
        <p:txBody>
          <a:bodyPr wrap="square" anchor="t" lIns="0" rIns="0" tIns="0" bIns="0"/>
          <a:lstStyle/>
          <a:p>
            <a:pPr algn="l">
              <a:spcBef>
                <a:spcPts val="0"/>
              </a:spcBef>
              <a:spcAft>
                <a:spcPts val="200"/>
              </a:spcAft>
            </a:pPr>
            <a:r>
              <a:rPr sz="2200" b="1" i="0">
                <a:solidFill>
                  <a:srgbClr val="FFFFFF"/>
                </a:solidFill>
                <a:latin typeface="Calibri"/>
              </a:rPr>
              <a:t>The download is named</a:t>
            </a:r>
          </a:p>
          <a:p>
            <a:pPr algn="l">
              <a:spcBef>
                <a:spcPts val="0"/>
              </a:spcBef>
              <a:spcAft>
                <a:spcPts val="200"/>
              </a:spcAft>
            </a:pPr>
            <a:r>
              <a:rPr sz="2200" b="1" i="0">
                <a:solidFill>
                  <a:srgbClr val="FFFFFF"/>
                </a:solidFill>
                <a:latin typeface="Calibri"/>
              </a:rPr>
              <a:t>harborline-agent-1.4.0.zip</a:t>
            </a:r>
          </a:p>
        </p:txBody>
      </p:sp>
      <p:sp>
        <p:nvSpPr>
          <p:cNvPr id="8" name="TextBox 7"/>
          <p:cNvSpPr txBox="1"/>
          <p:nvPr/>
        </p:nvSpPr>
        <p:spPr>
          <a:xfrm>
            <a:off x="603504" y="2606040"/>
            <a:ext cx="6446520" cy="2103120"/>
          </a:xfrm>
          <a:prstGeom prst="rect">
            <a:avLst/>
          </a:prstGeom>
          <a:noFill/>
        </p:spPr>
        <p:txBody>
          <a:bodyPr wrap="square" anchor="t" lIns="0" rIns="0" tIns="0" bIns="0"/>
          <a:lstStyle/>
          <a:p>
            <a:pPr algn="l">
              <a:spcBef>
                <a:spcPts val="0"/>
              </a:spcBef>
              <a:spcAft>
                <a:spcPts val="600"/>
              </a:spcAft>
            </a:pPr>
            <a:r>
              <a:rPr sz="1600" b="0" i="0">
                <a:solidFill>
                  <a:srgbClr val="C5D2E4"/>
                </a:solidFill>
                <a:latin typeface="Calibri"/>
              </a:rPr>
              <a:t>The receiver expects that release.</a:t>
            </a:r>
          </a:p>
          <a:p>
            <a:pPr algn="l">
              <a:spcBef>
                <a:spcPts val="0"/>
              </a:spcBef>
              <a:spcAft>
                <a:spcPts val="600"/>
              </a:spcAft>
            </a:pPr>
            <a:r>
              <a:rPr sz="1600" b="0" i="0">
                <a:solidFill>
                  <a:srgbClr val="C5D2E4"/>
                </a:solidFill>
                <a:latin typeface="Calibri"/>
              </a:rPr>
              <a:t>The name matches the announcement.</a:t>
            </a:r>
          </a:p>
          <a:p>
            <a:pPr algn="l">
              <a:spcBef>
                <a:spcPts val="0"/>
              </a:spcBef>
              <a:spcAft>
                <a:spcPts val="600"/>
              </a:spcAft>
            </a:pPr>
            <a:r>
              <a:rPr sz="1600" b="0" i="0">
                <a:solidFill>
                  <a:srgbClr val="C5D2E4"/>
                </a:solidFill>
                <a:latin typeface="Calibri"/>
              </a:rPr>
              <a:t>The bytes may still have changed in transit,</a:t>
            </a:r>
          </a:p>
          <a:p>
            <a:pPr algn="l">
              <a:spcBef>
                <a:spcPts val="0"/>
              </a:spcBef>
              <a:spcAft>
                <a:spcPts val="600"/>
              </a:spcAft>
            </a:pPr>
            <a:r>
              <a:rPr sz="1600" b="0" i="0">
                <a:solidFill>
                  <a:srgbClr val="C5D2E4"/>
                </a:solidFill>
                <a:latin typeface="Calibri"/>
              </a:rPr>
              <a:t>on a mirror, or on a shared drive.</a:t>
            </a:r>
          </a:p>
        </p:txBody>
      </p:sp>
      <p:sp>
        <p:nvSpPr>
          <p:cNvPr id="9" name="TextBox 8"/>
          <p:cNvSpPr txBox="1"/>
          <p:nvPr/>
        </p:nvSpPr>
        <p:spPr>
          <a:xfrm>
            <a:off x="603504" y="4983480"/>
            <a:ext cx="6446520" cy="960120"/>
          </a:xfrm>
          <a:prstGeom prst="rect">
            <a:avLst/>
          </a:prstGeom>
          <a:noFill/>
        </p:spPr>
        <p:txBody>
          <a:bodyPr wrap="square" anchor="t" lIns="0" rIns="0" tIns="0" bIns="0"/>
          <a:lstStyle/>
          <a:p>
            <a:pPr algn="l">
              <a:spcBef>
                <a:spcPts val="0"/>
              </a:spcBef>
              <a:spcAft>
                <a:spcPts val="400"/>
              </a:spcAft>
            </a:pPr>
            <a:r>
              <a:rPr sz="1600" b="1" i="0">
                <a:solidFill>
                  <a:srgbClr val="FFFFFF"/>
                </a:solidFill>
                <a:latin typeface="Calibri"/>
              </a:rPr>
              <a:t>The question is not “Does the name look right?”</a:t>
            </a:r>
          </a:p>
          <a:p>
            <a:pPr algn="l">
              <a:spcBef>
                <a:spcPts val="0"/>
              </a:spcBef>
              <a:spcAft>
                <a:spcPts val="400"/>
              </a:spcAft>
            </a:pPr>
            <a:r>
              <a:rPr sz="1600" b="1" i="0">
                <a:solidFill>
                  <a:srgbClr val="FFFFFF"/>
                </a:solidFill>
                <a:latin typeface="Calibri"/>
              </a:rPr>
              <a:t>The question is “Do these bytes match a trusted reference?”</a:t>
            </a:r>
          </a:p>
        </p:txBody>
      </p:sp>
      <p:sp>
        <p:nvSpPr>
          <p:cNvPr id="10" name="Rounded Rectangle 9"/>
          <p:cNvSpPr/>
          <p:nvPr/>
        </p:nvSpPr>
        <p:spPr>
          <a:xfrm>
            <a:off x="7498079" y="1234440"/>
            <a:ext cx="4297680" cy="228600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99248" y="1389888"/>
            <a:ext cx="3931920" cy="237744"/>
          </a:xfrm>
          <a:prstGeom prst="rect">
            <a:avLst/>
          </a:prstGeom>
          <a:noFill/>
        </p:spPr>
        <p:txBody>
          <a:bodyPr wrap="square" anchor="t" lIns="0" rIns="0" tIns="0" bIns="0"/>
          <a:lstStyle/>
          <a:p>
            <a:pPr algn="l">
              <a:spcBef>
                <a:spcPts val="0"/>
              </a:spcBef>
              <a:spcAft>
                <a:spcPts val="200"/>
              </a:spcAft>
            </a:pPr>
            <a:r>
              <a:rPr sz="1200" b="1" i="0">
                <a:solidFill>
                  <a:srgbClr val="F5C16C"/>
                </a:solidFill>
                <a:latin typeface="Calibri"/>
              </a:rPr>
              <a:t>FILENAME</a:t>
            </a:r>
          </a:p>
        </p:txBody>
      </p:sp>
      <p:sp>
        <p:nvSpPr>
          <p:cNvPr id="12" name="TextBox 11"/>
          <p:cNvSpPr txBox="1"/>
          <p:nvPr/>
        </p:nvSpPr>
        <p:spPr>
          <a:xfrm>
            <a:off x="7699248" y="1737360"/>
            <a:ext cx="3931920" cy="1463040"/>
          </a:xfrm>
          <a:prstGeom prst="rect">
            <a:avLst/>
          </a:prstGeom>
          <a:noFill/>
        </p:spPr>
        <p:txBody>
          <a:bodyPr wrap="square" anchor="t" lIns="0" rIns="0" tIns="0" bIns="0"/>
          <a:lstStyle/>
          <a:p>
            <a:pPr algn="l">
              <a:spcBef>
                <a:spcPts val="0"/>
              </a:spcBef>
              <a:spcAft>
                <a:spcPts val="400"/>
              </a:spcAft>
            </a:pPr>
            <a:r>
              <a:rPr sz="1600" b="0" i="0">
                <a:solidFill>
                  <a:srgbClr val="C5D2E4"/>
                </a:solidFill>
                <a:latin typeface="Calibri"/>
              </a:rPr>
              <a:t>Easy to recognize.</a:t>
            </a:r>
          </a:p>
          <a:p>
            <a:pPr algn="l">
              <a:spcBef>
                <a:spcPts val="0"/>
              </a:spcBef>
              <a:spcAft>
                <a:spcPts val="400"/>
              </a:spcAft>
            </a:pPr>
            <a:r>
              <a:rPr sz="1600" b="0" i="0">
                <a:solidFill>
                  <a:srgbClr val="C5D2E4"/>
                </a:solidFill>
                <a:latin typeface="Calibri"/>
              </a:rPr>
              <a:t>Easy to reuse.</a:t>
            </a:r>
          </a:p>
          <a:p>
            <a:pPr algn="l">
              <a:spcBef>
                <a:spcPts val="0"/>
              </a:spcBef>
              <a:spcAft>
                <a:spcPts val="400"/>
              </a:spcAft>
            </a:pPr>
            <a:r>
              <a:rPr sz="1600" b="0" i="0">
                <a:solidFill>
                  <a:srgbClr val="C5D2E4"/>
                </a:solidFill>
                <a:latin typeface="Calibri"/>
              </a:rPr>
              <a:t>Says nothing about the file contents.</a:t>
            </a:r>
          </a:p>
        </p:txBody>
      </p:sp>
      <p:sp>
        <p:nvSpPr>
          <p:cNvPr id="13" name="Rounded Rectangle 12"/>
          <p:cNvSpPr/>
          <p:nvPr/>
        </p:nvSpPr>
        <p:spPr>
          <a:xfrm>
            <a:off x="7498079" y="3703320"/>
            <a:ext cx="4297680" cy="251460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3858768"/>
            <a:ext cx="3931920" cy="237744"/>
          </a:xfrm>
          <a:prstGeom prst="rect">
            <a:avLst/>
          </a:prstGeom>
          <a:noFill/>
        </p:spPr>
        <p:txBody>
          <a:bodyPr wrap="square" anchor="t" lIns="0" rIns="0" tIns="0" bIns="0"/>
          <a:lstStyle/>
          <a:p>
            <a:pPr algn="l">
              <a:spcBef>
                <a:spcPts val="0"/>
              </a:spcBef>
              <a:spcAft>
                <a:spcPts val="200"/>
              </a:spcAft>
            </a:pPr>
            <a:r>
              <a:rPr sz="1200" b="1" i="0">
                <a:solidFill>
                  <a:srgbClr val="3DDC97"/>
                </a:solidFill>
                <a:latin typeface="Calibri"/>
              </a:rPr>
              <a:t>SHA-256 DIGEST</a:t>
            </a:r>
          </a:p>
        </p:txBody>
      </p:sp>
      <p:sp>
        <p:nvSpPr>
          <p:cNvPr id="15" name="TextBox 14"/>
          <p:cNvSpPr txBox="1"/>
          <p:nvPr/>
        </p:nvSpPr>
        <p:spPr>
          <a:xfrm>
            <a:off x="7699248" y="4187952"/>
            <a:ext cx="3931920" cy="1737360"/>
          </a:xfrm>
          <a:prstGeom prst="rect">
            <a:avLst/>
          </a:prstGeom>
          <a:noFill/>
        </p:spPr>
        <p:txBody>
          <a:bodyPr wrap="square" anchor="t" lIns="0" rIns="0" tIns="0" bIns="0"/>
          <a:lstStyle/>
          <a:p>
            <a:pPr algn="l">
              <a:spcBef>
                <a:spcPts val="0"/>
              </a:spcBef>
              <a:spcAft>
                <a:spcPts val="400"/>
              </a:spcAft>
            </a:pPr>
            <a:r>
              <a:rPr sz="1600" b="0" i="0">
                <a:solidFill>
                  <a:srgbClr val="C5D2E4"/>
                </a:solidFill>
                <a:latin typeface="Calibri"/>
              </a:rPr>
              <a:t>A fingerprint of the exact bytes.</a:t>
            </a:r>
          </a:p>
          <a:p>
            <a:pPr algn="l">
              <a:spcBef>
                <a:spcPts val="0"/>
              </a:spcBef>
              <a:spcAft>
                <a:spcPts val="400"/>
              </a:spcAft>
            </a:pPr>
            <a:r>
              <a:rPr sz="1600" b="0" i="0">
                <a:solidFill>
                  <a:srgbClr val="C5D2E4"/>
                </a:solidFill>
                <a:latin typeface="Calibri"/>
              </a:rPr>
              <a:t>Useful only when compared with a reference from a trusted source.</a:t>
            </a:r>
          </a:p>
        </p:txBody>
      </p:sp>
      <p:sp>
        <p:nvSpPr>
          <p:cNvPr id="16" name="TextBox 15"/>
          <p:cNvSpPr txBox="1"/>
          <p:nvPr/>
        </p:nvSpPr>
        <p:spPr>
          <a:xfrm>
            <a:off x="347472" y="6528816"/>
            <a:ext cx="9326880" cy="237744"/>
          </a:xfrm>
          <a:prstGeom prst="rect">
            <a:avLst/>
          </a:prstGeom>
          <a:noFill/>
        </p:spPr>
        <p:txBody>
          <a:bodyPr wrap="square" anchor="t" lIns="0" rIns="0" tIns="0" bIns="0"/>
          <a:lstStyle/>
          <a:p>
            <a:pPr algn="l">
              <a:spcBef>
                <a:spcPts val="0"/>
              </a:spcBef>
              <a:spcAft>
                <a:spcPts val="200"/>
              </a:spcAft>
            </a:pPr>
            <a:r>
              <a:rPr sz="1200" b="0" i="0">
                <a:solidFill>
                  <a:srgbClr val="8EA2BB"/>
                </a:solidFill>
                <a:latin typeface="Calibri"/>
              </a:rPr>
              <a:t>CryptoGuard   ·   Problem</a:t>
            </a:r>
          </a:p>
        </p:txBody>
      </p:sp>
      <p:sp>
        <p:nvSpPr>
          <p:cNvPr id="17" name="TextBox 16"/>
          <p:cNvSpPr txBox="1"/>
          <p:nvPr/>
        </p:nvSpPr>
        <p:spPr>
          <a:xfrm>
            <a:off x="10515600" y="6528816"/>
            <a:ext cx="1325880" cy="237744"/>
          </a:xfrm>
          <a:prstGeom prst="rect">
            <a:avLst/>
          </a:prstGeom>
          <a:noFill/>
        </p:spPr>
        <p:txBody>
          <a:bodyPr wrap="square" anchor="t" lIns="0" rIns="0" tIns="0" bIns="0"/>
          <a:lstStyle/>
          <a:p>
            <a:pPr algn="r">
              <a:spcBef>
                <a:spcPts val="0"/>
              </a:spcBef>
              <a:spcAft>
                <a:spcPts val="200"/>
              </a:spcAft>
            </a:pPr>
            <a:r>
              <a:rPr sz="1200" b="0" i="0">
                <a:solidFill>
                  <a:srgbClr val="8EA2BB"/>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37744"/>
            <a:ext cx="9144000" cy="256032"/>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PROBLEM STATEMENT AND OBJECTIVES</a:t>
            </a:r>
          </a:p>
        </p:txBody>
      </p:sp>
      <p:sp>
        <p:nvSpPr>
          <p:cNvPr id="4" name="TextBox 3"/>
          <p:cNvSpPr txBox="1"/>
          <p:nvPr/>
        </p:nvSpPr>
        <p:spPr>
          <a:xfrm>
            <a:off x="384048" y="475488"/>
            <a:ext cx="11338560" cy="438912"/>
          </a:xfrm>
          <a:prstGeom prst="rect">
            <a:avLst/>
          </a:prstGeom>
          <a:noFill/>
        </p:spPr>
        <p:txBody>
          <a:bodyPr wrap="square" anchor="t" lIns="0" rIns="0" tIns="0" bIns="0"/>
          <a:lstStyle/>
          <a:p>
            <a:pPr algn="l">
              <a:spcBef>
                <a:spcPts val="0"/>
              </a:spcBef>
              <a:spcAft>
                <a:spcPts val="200"/>
              </a:spcAft>
            </a:pPr>
            <a:r>
              <a:rPr sz="3000" b="1" i="0">
                <a:solidFill>
                  <a:srgbClr val="FFFFFF"/>
                </a:solidFill>
                <a:latin typeface="Calibri"/>
              </a:rPr>
              <a:t>Separate the evidence from the claim</a:t>
            </a:r>
          </a:p>
        </p:txBody>
      </p:sp>
      <p:sp>
        <p:nvSpPr>
          <p:cNvPr id="5" name="Rounded Rectangle 4"/>
          <p:cNvSpPr/>
          <p:nvPr/>
        </p:nvSpPr>
        <p:spPr>
          <a:xfrm>
            <a:off x="384048" y="1170432"/>
            <a:ext cx="5715000" cy="214884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1298448"/>
            <a:ext cx="5394960" cy="219456"/>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PROBLEM</a:t>
            </a:r>
          </a:p>
        </p:txBody>
      </p:sp>
      <p:sp>
        <p:nvSpPr>
          <p:cNvPr id="7" name="TextBox 6"/>
          <p:cNvSpPr txBox="1"/>
          <p:nvPr/>
        </p:nvSpPr>
        <p:spPr>
          <a:xfrm>
            <a:off x="585216" y="1591056"/>
            <a:ext cx="5349240" cy="1508760"/>
          </a:xfrm>
          <a:prstGeom prst="rect">
            <a:avLst/>
          </a:prstGeom>
          <a:noFill/>
        </p:spPr>
        <p:txBody>
          <a:bodyPr wrap="square" anchor="t" lIns="0" rIns="0" tIns="0" bIns="0"/>
          <a:lstStyle/>
          <a:p>
            <a:pPr algn="l">
              <a:spcBef>
                <a:spcPts val="0"/>
              </a:spcBef>
              <a:spcAft>
                <a:spcPts val="200"/>
              </a:spcAft>
            </a:pPr>
            <a:r>
              <a:rPr sz="1600" b="0" i="0">
                <a:solidFill>
                  <a:srgbClr val="C5D2E4"/>
                </a:solidFill>
                <a:latin typeface="Calibri"/>
              </a:rPr>
              <a:t>A matching name, a digest, a tag, and a signature answer different questions. Mixing them creates false confidence.</a:t>
            </a:r>
          </a:p>
        </p:txBody>
      </p:sp>
      <p:sp>
        <p:nvSpPr>
          <p:cNvPr id="8" name="Rounded Rectangle 7"/>
          <p:cNvSpPr/>
          <p:nvPr/>
        </p:nvSpPr>
        <p:spPr>
          <a:xfrm>
            <a:off x="6263640" y="1170432"/>
            <a:ext cx="5532120" cy="214884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4808" y="1298448"/>
            <a:ext cx="5166360" cy="219456"/>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SOLUTION</a:t>
            </a:r>
          </a:p>
        </p:txBody>
      </p:sp>
      <p:sp>
        <p:nvSpPr>
          <p:cNvPr id="10" name="TextBox 9"/>
          <p:cNvSpPr txBox="1"/>
          <p:nvPr/>
        </p:nvSpPr>
        <p:spPr>
          <a:xfrm>
            <a:off x="6464808" y="1591056"/>
            <a:ext cx="5120640" cy="1508760"/>
          </a:xfrm>
          <a:prstGeom prst="rect">
            <a:avLst/>
          </a:prstGeom>
          <a:noFill/>
        </p:spPr>
        <p:txBody>
          <a:bodyPr wrap="square" anchor="t" lIns="0" rIns="0" tIns="0" bIns="0"/>
          <a:lstStyle/>
          <a:p>
            <a:pPr algn="l">
              <a:spcBef>
                <a:spcPts val="0"/>
              </a:spcBef>
              <a:spcAft>
                <a:spcPts val="200"/>
              </a:spcAft>
            </a:pPr>
            <a:r>
              <a:rPr sz="1600" b="0" i="0">
                <a:solidFill>
                  <a:srgbClr val="C5D2E4"/>
                </a:solidFill>
                <a:latin typeface="Calibri"/>
              </a:rPr>
              <a:t>Run the real algorithms in a local web application, then state the limit of each result on screen.</a:t>
            </a:r>
          </a:p>
        </p:txBody>
      </p:sp>
      <p:sp>
        <p:nvSpPr>
          <p:cNvPr id="11" name="Rounded Rectangle 10"/>
          <p:cNvSpPr/>
          <p:nvPr/>
        </p:nvSpPr>
        <p:spPr>
          <a:xfrm>
            <a:off x="384048" y="3493008"/>
            <a:ext cx="7635240" cy="603504"/>
          </a:xfrm>
          <a:prstGeom prst="roundRect">
            <a:avLst>
              <a:gd name="adj" fmla="val 12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3639312"/>
            <a:ext cx="548640" cy="310896"/>
          </a:xfrm>
          <a:prstGeom prst="rect">
            <a:avLst/>
          </a:prstGeom>
          <a:noFill/>
        </p:spPr>
        <p:txBody>
          <a:bodyPr wrap="square" anchor="t" lIns="0" rIns="0" tIns="0" bIns="0"/>
          <a:lstStyle/>
          <a:p>
            <a:pPr algn="l">
              <a:spcBef>
                <a:spcPts val="0"/>
              </a:spcBef>
              <a:spcAft>
                <a:spcPts val="200"/>
              </a:spcAft>
            </a:pPr>
            <a:r>
              <a:rPr sz="1400" b="1" i="0">
                <a:solidFill>
                  <a:srgbClr val="4CC9F0"/>
                </a:solidFill>
                <a:latin typeface="Calibri"/>
              </a:rPr>
              <a:t>01</a:t>
            </a:r>
          </a:p>
        </p:txBody>
      </p:sp>
      <p:sp>
        <p:nvSpPr>
          <p:cNvPr id="13" name="TextBox 12"/>
          <p:cNvSpPr txBox="1"/>
          <p:nvPr/>
        </p:nvSpPr>
        <p:spPr>
          <a:xfrm>
            <a:off x="1143000" y="3639312"/>
            <a:ext cx="6675120" cy="329184"/>
          </a:xfrm>
          <a:prstGeom prst="rect">
            <a:avLst/>
          </a:prstGeom>
          <a:noFill/>
        </p:spPr>
        <p:txBody>
          <a:bodyPr wrap="square" anchor="t" lIns="0" rIns="0" tIns="0" bIns="0"/>
          <a:lstStyle/>
          <a:p>
            <a:pPr algn="l">
              <a:spcBef>
                <a:spcPts val="0"/>
              </a:spcBef>
              <a:spcAft>
                <a:spcPts val="200"/>
              </a:spcAft>
            </a:pPr>
            <a:r>
              <a:rPr sz="1500" b="0" i="0">
                <a:solidFill>
                  <a:srgbClr val="FFFFFF"/>
                </a:solidFill>
                <a:latin typeface="Calibri"/>
              </a:rPr>
              <a:t>Compare a file with a trusted SHA-256 reference.</a:t>
            </a:r>
          </a:p>
        </p:txBody>
      </p:sp>
      <p:sp>
        <p:nvSpPr>
          <p:cNvPr id="14" name="Rounded Rectangle 13"/>
          <p:cNvSpPr/>
          <p:nvPr/>
        </p:nvSpPr>
        <p:spPr>
          <a:xfrm>
            <a:off x="384048" y="4178808"/>
            <a:ext cx="7635240" cy="603504"/>
          </a:xfrm>
          <a:prstGeom prst="roundRect">
            <a:avLst>
              <a:gd name="adj" fmla="val 12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4325112"/>
            <a:ext cx="548640" cy="310896"/>
          </a:xfrm>
          <a:prstGeom prst="rect">
            <a:avLst/>
          </a:prstGeom>
          <a:noFill/>
        </p:spPr>
        <p:txBody>
          <a:bodyPr wrap="square" anchor="t" lIns="0" rIns="0" tIns="0" bIns="0"/>
          <a:lstStyle/>
          <a:p>
            <a:pPr algn="l">
              <a:spcBef>
                <a:spcPts val="0"/>
              </a:spcBef>
              <a:spcAft>
                <a:spcPts val="200"/>
              </a:spcAft>
            </a:pPr>
            <a:r>
              <a:rPr sz="1400" b="1" i="0">
                <a:solidFill>
                  <a:srgbClr val="4CC9F0"/>
                </a:solidFill>
                <a:latin typeface="Calibri"/>
              </a:rPr>
              <a:t>02</a:t>
            </a:r>
          </a:p>
        </p:txBody>
      </p:sp>
      <p:sp>
        <p:nvSpPr>
          <p:cNvPr id="16" name="TextBox 15"/>
          <p:cNvSpPr txBox="1"/>
          <p:nvPr/>
        </p:nvSpPr>
        <p:spPr>
          <a:xfrm>
            <a:off x="1143000" y="4325112"/>
            <a:ext cx="6675120" cy="329184"/>
          </a:xfrm>
          <a:prstGeom prst="rect">
            <a:avLst/>
          </a:prstGeom>
          <a:noFill/>
        </p:spPr>
        <p:txBody>
          <a:bodyPr wrap="square" anchor="t" lIns="0" rIns="0" tIns="0" bIns="0"/>
          <a:lstStyle/>
          <a:p>
            <a:pPr algn="l">
              <a:spcBef>
                <a:spcPts val="0"/>
              </a:spcBef>
              <a:spcAft>
                <a:spcPts val="200"/>
              </a:spcAft>
            </a:pPr>
            <a:r>
              <a:rPr sz="1500" b="0" i="0">
                <a:solidFill>
                  <a:srgbClr val="FFFFFF"/>
                </a:solidFill>
                <a:latin typeface="Calibri"/>
              </a:rPr>
              <a:t>Create and check HMAC-SHA256 without storing the secret.</a:t>
            </a:r>
          </a:p>
        </p:txBody>
      </p:sp>
      <p:sp>
        <p:nvSpPr>
          <p:cNvPr id="17" name="Rounded Rectangle 16"/>
          <p:cNvSpPr/>
          <p:nvPr/>
        </p:nvSpPr>
        <p:spPr>
          <a:xfrm>
            <a:off x="384048" y="4864608"/>
            <a:ext cx="7635240" cy="603504"/>
          </a:xfrm>
          <a:prstGeom prst="roundRect">
            <a:avLst>
              <a:gd name="adj" fmla="val 12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5010912"/>
            <a:ext cx="548640" cy="310896"/>
          </a:xfrm>
          <a:prstGeom prst="rect">
            <a:avLst/>
          </a:prstGeom>
          <a:noFill/>
        </p:spPr>
        <p:txBody>
          <a:bodyPr wrap="square" anchor="t" lIns="0" rIns="0" tIns="0" bIns="0"/>
          <a:lstStyle/>
          <a:p>
            <a:pPr algn="l">
              <a:spcBef>
                <a:spcPts val="0"/>
              </a:spcBef>
              <a:spcAft>
                <a:spcPts val="200"/>
              </a:spcAft>
            </a:pPr>
            <a:r>
              <a:rPr sz="1400" b="1" i="0">
                <a:solidFill>
                  <a:srgbClr val="4CC9F0"/>
                </a:solidFill>
                <a:latin typeface="Calibri"/>
              </a:rPr>
              <a:t>03</a:t>
            </a:r>
          </a:p>
        </p:txBody>
      </p:sp>
      <p:sp>
        <p:nvSpPr>
          <p:cNvPr id="19" name="TextBox 18"/>
          <p:cNvSpPr txBox="1"/>
          <p:nvPr/>
        </p:nvSpPr>
        <p:spPr>
          <a:xfrm>
            <a:off x="1143000" y="5010912"/>
            <a:ext cx="6675120" cy="329184"/>
          </a:xfrm>
          <a:prstGeom prst="rect">
            <a:avLst/>
          </a:prstGeom>
          <a:noFill/>
        </p:spPr>
        <p:txBody>
          <a:bodyPr wrap="square" anchor="t" lIns="0" rIns="0" tIns="0" bIns="0"/>
          <a:lstStyle/>
          <a:p>
            <a:pPr algn="l">
              <a:spcBef>
                <a:spcPts val="0"/>
              </a:spcBef>
              <a:spcAft>
                <a:spcPts val="200"/>
              </a:spcAft>
            </a:pPr>
            <a:r>
              <a:rPr sz="1500" b="0" i="0">
                <a:solidFill>
                  <a:srgbClr val="FFFFFF"/>
                </a:solidFill>
                <a:latin typeface="Calibri"/>
              </a:rPr>
              <a:t>Sign and verify UTF-8 text with RSA-2048 and RSA-PSS.</a:t>
            </a:r>
          </a:p>
        </p:txBody>
      </p:sp>
      <p:sp>
        <p:nvSpPr>
          <p:cNvPr id="20" name="Rounded Rectangle 19"/>
          <p:cNvSpPr/>
          <p:nvPr/>
        </p:nvSpPr>
        <p:spPr>
          <a:xfrm>
            <a:off x="384048" y="5550408"/>
            <a:ext cx="7635240" cy="603504"/>
          </a:xfrm>
          <a:prstGeom prst="roundRect">
            <a:avLst>
              <a:gd name="adj" fmla="val 12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5696712"/>
            <a:ext cx="548640" cy="310896"/>
          </a:xfrm>
          <a:prstGeom prst="rect">
            <a:avLst/>
          </a:prstGeom>
          <a:noFill/>
        </p:spPr>
        <p:txBody>
          <a:bodyPr wrap="square" anchor="t" lIns="0" rIns="0" tIns="0" bIns="0"/>
          <a:lstStyle/>
          <a:p>
            <a:pPr algn="l">
              <a:spcBef>
                <a:spcPts val="0"/>
              </a:spcBef>
              <a:spcAft>
                <a:spcPts val="200"/>
              </a:spcAft>
            </a:pPr>
            <a:r>
              <a:rPr sz="1400" b="1" i="0">
                <a:solidFill>
                  <a:srgbClr val="4CC9F0"/>
                </a:solidFill>
                <a:latin typeface="Calibri"/>
              </a:rPr>
              <a:t>04</a:t>
            </a:r>
          </a:p>
        </p:txBody>
      </p:sp>
      <p:sp>
        <p:nvSpPr>
          <p:cNvPr id="22" name="TextBox 21"/>
          <p:cNvSpPr txBox="1"/>
          <p:nvPr/>
        </p:nvSpPr>
        <p:spPr>
          <a:xfrm>
            <a:off x="1143000" y="5696712"/>
            <a:ext cx="6675120" cy="329184"/>
          </a:xfrm>
          <a:prstGeom prst="rect">
            <a:avLst/>
          </a:prstGeom>
          <a:noFill/>
        </p:spPr>
        <p:txBody>
          <a:bodyPr wrap="square" anchor="t" lIns="0" rIns="0" tIns="0" bIns="0"/>
          <a:lstStyle/>
          <a:p>
            <a:pPr algn="l">
              <a:spcBef>
                <a:spcPts val="0"/>
              </a:spcBef>
              <a:spcAft>
                <a:spcPts val="200"/>
              </a:spcAft>
            </a:pPr>
            <a:r>
              <a:rPr sz="1500" b="0" i="0">
                <a:solidFill>
                  <a:srgbClr val="FFFFFF"/>
                </a:solidFill>
                <a:latin typeface="Calibri"/>
              </a:rPr>
              <a:t>Record sanitized history and keep supply-chain lookups separate.</a:t>
            </a:r>
          </a:p>
        </p:txBody>
      </p:sp>
      <p:sp>
        <p:nvSpPr>
          <p:cNvPr id="23" name="Rounded Rectangle 22"/>
          <p:cNvSpPr/>
          <p:nvPr/>
        </p:nvSpPr>
        <p:spPr>
          <a:xfrm>
            <a:off x="8183879" y="3493008"/>
            <a:ext cx="3611880" cy="2660904"/>
          </a:xfrm>
          <a:prstGeom prst="roundRect">
            <a:avLst>
              <a:gd name="adj" fmla="val 8000"/>
            </a:avLst>
          </a:prstGeom>
          <a:solidFill>
            <a:srgbClr val="1A2840"/>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60" y="3639312"/>
            <a:ext cx="3246120" cy="219456"/>
          </a:xfrm>
          <a:prstGeom prst="rect">
            <a:avLst/>
          </a:prstGeom>
          <a:noFill/>
        </p:spPr>
        <p:txBody>
          <a:bodyPr wrap="square" anchor="t" lIns="0" rIns="0" tIns="0" bIns="0"/>
          <a:lstStyle/>
          <a:p>
            <a:pPr algn="l">
              <a:spcBef>
                <a:spcPts val="0"/>
              </a:spcBef>
              <a:spcAft>
                <a:spcPts val="200"/>
              </a:spcAft>
            </a:pPr>
            <a:r>
              <a:rPr sz="1200" b="1" i="0">
                <a:solidFill>
                  <a:srgbClr val="3DDC97"/>
                </a:solidFill>
                <a:latin typeface="Calibri"/>
              </a:rPr>
              <a:t>SCOPE TODAY</a:t>
            </a:r>
          </a:p>
        </p:txBody>
      </p:sp>
      <p:sp>
        <p:nvSpPr>
          <p:cNvPr id="25" name="TextBox 24"/>
          <p:cNvSpPr txBox="1"/>
          <p:nvPr/>
        </p:nvSpPr>
        <p:spPr>
          <a:xfrm>
            <a:off x="8366760" y="3950208"/>
            <a:ext cx="3246120" cy="914400"/>
          </a:xfrm>
          <a:prstGeom prst="rect">
            <a:avLst/>
          </a:prstGeom>
          <a:noFill/>
        </p:spPr>
        <p:txBody>
          <a:bodyPr wrap="square" anchor="t" lIns="0" rIns="0" tIns="0" bIns="0"/>
          <a:lstStyle/>
          <a:p>
            <a:pPr algn="l">
              <a:spcBef>
                <a:spcPts val="0"/>
              </a:spcBef>
              <a:spcAft>
                <a:spcPts val="200"/>
              </a:spcAft>
            </a:pPr>
            <a:r>
              <a:rPr sz="1400" b="0" i="0">
                <a:solidFill>
                  <a:srgbClr val="C5D2E4"/>
                </a:solidFill>
                <a:latin typeface="Calibri"/>
              </a:rPr>
              <a:t>Local academic MVP.</a:t>
            </a:r>
          </a:p>
          <a:p>
            <a:pPr algn="l">
              <a:spcBef>
                <a:spcPts val="0"/>
              </a:spcBef>
              <a:spcAft>
                <a:spcPts val="200"/>
              </a:spcAft>
            </a:pPr>
            <a:r>
              <a:rPr sz="1400" b="0" i="0">
                <a:solidFill>
                  <a:srgbClr val="C5D2E4"/>
                </a:solidFill>
                <a:latin typeface="Calibri"/>
              </a:rPr>
              <a:t>No user accounts.</a:t>
            </a:r>
          </a:p>
          <a:p>
            <a:pPr algn="l">
              <a:spcBef>
                <a:spcPts val="0"/>
              </a:spcBef>
              <a:spcAft>
                <a:spcPts val="200"/>
              </a:spcAft>
            </a:pPr>
            <a:r>
              <a:rPr sz="1400" b="0" i="0">
                <a:solidFill>
                  <a:srgbClr val="C5D2E4"/>
                </a:solidFill>
                <a:latin typeface="Calibri"/>
              </a:rPr>
              <a:t>No package installation.</a:t>
            </a:r>
          </a:p>
        </p:txBody>
      </p:sp>
      <p:sp>
        <p:nvSpPr>
          <p:cNvPr id="26" name="TextBox 25"/>
          <p:cNvSpPr txBox="1"/>
          <p:nvPr/>
        </p:nvSpPr>
        <p:spPr>
          <a:xfrm>
            <a:off x="8366760" y="4937760"/>
            <a:ext cx="3246120" cy="219456"/>
          </a:xfrm>
          <a:prstGeom prst="rect">
            <a:avLst/>
          </a:prstGeom>
          <a:noFill/>
        </p:spPr>
        <p:txBody>
          <a:bodyPr wrap="square" anchor="t" lIns="0" rIns="0" tIns="0" bIns="0"/>
          <a:lstStyle/>
          <a:p>
            <a:pPr algn="l">
              <a:spcBef>
                <a:spcPts val="0"/>
              </a:spcBef>
              <a:spcAft>
                <a:spcPts val="200"/>
              </a:spcAft>
            </a:pPr>
            <a:r>
              <a:rPr sz="1200" b="1" i="0">
                <a:solidFill>
                  <a:srgbClr val="F5C16C"/>
                </a:solidFill>
                <a:latin typeface="Calibri"/>
              </a:rPr>
              <a:t>NOT CLAIMED</a:t>
            </a:r>
          </a:p>
        </p:txBody>
      </p:sp>
      <p:sp>
        <p:nvSpPr>
          <p:cNvPr id="27" name="TextBox 26"/>
          <p:cNvSpPr txBox="1"/>
          <p:nvPr/>
        </p:nvSpPr>
        <p:spPr>
          <a:xfrm>
            <a:off x="8366760" y="5230368"/>
            <a:ext cx="3246120" cy="731520"/>
          </a:xfrm>
          <a:prstGeom prst="rect">
            <a:avLst/>
          </a:prstGeom>
          <a:noFill/>
        </p:spPr>
        <p:txBody>
          <a:bodyPr wrap="square" anchor="t" lIns="0" rIns="0" tIns="0" bIns="0"/>
          <a:lstStyle/>
          <a:p>
            <a:pPr algn="l">
              <a:spcBef>
                <a:spcPts val="0"/>
              </a:spcBef>
              <a:spcAft>
                <a:spcPts val="200"/>
              </a:spcAft>
            </a:pPr>
            <a:r>
              <a:rPr sz="1400" b="0" i="0">
                <a:solidFill>
                  <a:srgbClr val="C5D2E4"/>
                </a:solidFill>
                <a:latin typeface="Calibri"/>
              </a:rPr>
              <a:t>Full SLSA, Sigstore, or malware detection.</a:t>
            </a:r>
          </a:p>
        </p:txBody>
      </p:sp>
      <p:sp>
        <p:nvSpPr>
          <p:cNvPr id="28" name="TextBox 27"/>
          <p:cNvSpPr txBox="1"/>
          <p:nvPr/>
        </p:nvSpPr>
        <p:spPr>
          <a:xfrm>
            <a:off x="347472" y="6528816"/>
            <a:ext cx="9326880" cy="237744"/>
          </a:xfrm>
          <a:prstGeom prst="rect">
            <a:avLst/>
          </a:prstGeom>
          <a:noFill/>
        </p:spPr>
        <p:txBody>
          <a:bodyPr wrap="square" anchor="t" lIns="0" rIns="0" tIns="0" bIns="0"/>
          <a:lstStyle/>
          <a:p>
            <a:pPr algn="l">
              <a:spcBef>
                <a:spcPts val="0"/>
              </a:spcBef>
              <a:spcAft>
                <a:spcPts val="200"/>
              </a:spcAft>
            </a:pPr>
            <a:r>
              <a:rPr sz="1200" b="0" i="0">
                <a:solidFill>
                  <a:srgbClr val="8EA2BB"/>
                </a:solidFill>
                <a:latin typeface="Calibri"/>
              </a:rPr>
              <a:t>CryptoGuard   ·   Objectives</a:t>
            </a:r>
          </a:p>
        </p:txBody>
      </p:sp>
      <p:sp>
        <p:nvSpPr>
          <p:cNvPr id="29" name="TextBox 28"/>
          <p:cNvSpPr txBox="1"/>
          <p:nvPr/>
        </p:nvSpPr>
        <p:spPr>
          <a:xfrm>
            <a:off x="10515600" y="6528816"/>
            <a:ext cx="1325880" cy="237744"/>
          </a:xfrm>
          <a:prstGeom prst="rect">
            <a:avLst/>
          </a:prstGeom>
          <a:noFill/>
        </p:spPr>
        <p:txBody>
          <a:bodyPr wrap="square" anchor="t" lIns="0" rIns="0" tIns="0" bIns="0"/>
          <a:lstStyle/>
          <a:p>
            <a:pPr algn="r">
              <a:spcBef>
                <a:spcPts val="0"/>
              </a:spcBef>
              <a:spcAft>
                <a:spcPts val="200"/>
              </a:spcAft>
            </a:pPr>
            <a:r>
              <a:rPr sz="1200" b="0" i="0">
                <a:solidFill>
                  <a:srgbClr val="8EA2BB"/>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37744"/>
            <a:ext cx="9144000" cy="256032"/>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WHY THREE CRYPTOGRAPHIC METHODS?</a:t>
            </a:r>
          </a:p>
        </p:txBody>
      </p:sp>
      <p:sp>
        <p:nvSpPr>
          <p:cNvPr id="4" name="TextBox 3"/>
          <p:cNvSpPr txBox="1"/>
          <p:nvPr/>
        </p:nvSpPr>
        <p:spPr>
          <a:xfrm>
            <a:off x="384048" y="475488"/>
            <a:ext cx="11338560" cy="438912"/>
          </a:xfrm>
          <a:prstGeom prst="rect">
            <a:avLst/>
          </a:prstGeom>
          <a:noFill/>
        </p:spPr>
        <p:txBody>
          <a:bodyPr wrap="square" anchor="t" lIns="0" rIns="0" tIns="0" bIns="0"/>
          <a:lstStyle/>
          <a:p>
            <a:pPr algn="l">
              <a:spcBef>
                <a:spcPts val="0"/>
              </a:spcBef>
              <a:spcAft>
                <a:spcPts val="200"/>
              </a:spcAft>
            </a:pPr>
            <a:r>
              <a:rPr sz="3000" b="1" i="0">
                <a:solidFill>
                  <a:srgbClr val="FFFFFF"/>
                </a:solidFill>
                <a:latin typeface="Calibri"/>
              </a:rPr>
              <a:t>Three checks, three different questions</a:t>
            </a:r>
          </a:p>
        </p:txBody>
      </p:sp>
      <p:graphicFrame>
        <p:nvGraphicFramePr>
          <p:cNvPr id="5" name="Table 4"/>
          <p:cNvGraphicFramePr>
            <a:graphicFrameLocks noGrp="1"/>
          </p:cNvGraphicFramePr>
          <p:nvPr/>
        </p:nvGraphicFramePr>
        <p:xfrm>
          <a:off x="384048" y="1234440"/>
          <a:ext cx="11430000" cy="3730752"/>
        </p:xfrm>
        <a:graphic>
          <a:graphicData uri="http://schemas.openxmlformats.org/drawingml/2006/table">
            <a:tbl>
              <a:tblPr firstRow="1" bandRow="1">
                <a:tableStyleId>{5C22544A-7EE6-4342-B048-85BDC9FD1C3A}</a:tableStyleId>
              </a:tblPr>
              <a:tblGrid>
                <a:gridCol w="2468880"/>
                <a:gridCol w="2880360"/>
                <a:gridCol w="3063240"/>
                <a:gridCol w="3017520"/>
              </a:tblGrid>
              <a:tr h="530352">
                <a:tc>
                  <a:txBody>
                    <a:bodyPr wrap="square"/>
                    <a:lstStyle/>
                    <a:p>
                      <a:pPr algn="l"/>
                      <a:r>
                        <a:rPr sz="1400" b="1" i="0">
                          <a:solidFill>
                            <a:srgbClr val="FFFFFF"/>
                          </a:solidFill>
                          <a:latin typeface="Calibri"/>
                        </a:rPr>
                        <a:t>Question</a:t>
                      </a:r>
                    </a:p>
                  </a:txBody>
                  <a:tcPr anchor="ctr" marL="73152" marR="73152" marT="36576" marB="36576">
                    <a:solidFill>
                      <a:srgbClr val="1A2840"/>
                    </a:solidFill>
                  </a:tcPr>
                </a:tc>
                <a:tc>
                  <a:txBody>
                    <a:bodyPr wrap="square"/>
                    <a:lstStyle/>
                    <a:p>
                      <a:pPr algn="l"/>
                      <a:r>
                        <a:rPr sz="1400" b="1" i="0">
                          <a:solidFill>
                            <a:srgbClr val="FFFFFF"/>
                          </a:solidFill>
                          <a:latin typeface="Calibri"/>
                        </a:rPr>
                        <a:t>SHA-256</a:t>
                      </a:r>
                    </a:p>
                  </a:txBody>
                  <a:tcPr anchor="ctr" marL="73152" marR="73152" marT="36576" marB="36576">
                    <a:solidFill>
                      <a:srgbClr val="12323A"/>
                    </a:solidFill>
                  </a:tcPr>
                </a:tc>
                <a:tc>
                  <a:txBody>
                    <a:bodyPr wrap="square"/>
                    <a:lstStyle/>
                    <a:p>
                      <a:pPr algn="l"/>
                      <a:r>
                        <a:rPr sz="1400" b="1" i="0">
                          <a:solidFill>
                            <a:srgbClr val="FFFFFF"/>
                          </a:solidFill>
                          <a:latin typeface="Calibri"/>
                        </a:rPr>
                        <a:t>HMAC-SHA256</a:t>
                      </a:r>
                    </a:p>
                  </a:txBody>
                  <a:tcPr anchor="ctr" marL="73152" marR="73152" marT="36576" marB="36576">
                    <a:solidFill>
                      <a:srgbClr val="142A48"/>
                    </a:solidFill>
                  </a:tcPr>
                </a:tc>
                <a:tc>
                  <a:txBody>
                    <a:bodyPr wrap="square"/>
                    <a:lstStyle/>
                    <a:p>
                      <a:pPr algn="l"/>
                      <a:r>
                        <a:rPr sz="1400" b="1" i="0">
                          <a:solidFill>
                            <a:srgbClr val="FFFFFF"/>
                          </a:solidFill>
                          <a:latin typeface="Calibri"/>
                        </a:rPr>
                        <a:t>RSA-PSS</a:t>
                      </a:r>
                    </a:p>
                  </a:txBody>
                  <a:tcPr anchor="ctr" marL="73152" marR="73152" marT="36576" marB="36576">
                    <a:solidFill>
                      <a:srgbClr val="282248"/>
                    </a:solidFill>
                  </a:tcPr>
                </a:tc>
              </a:tr>
              <a:tr h="640080">
                <a:tc>
                  <a:txBody>
                    <a:bodyPr wrap="square"/>
                    <a:lstStyle/>
                    <a:p>
                      <a:pPr algn="l"/>
                      <a:r>
                        <a:rPr sz="1400" b="1" i="0">
                          <a:solidFill>
                            <a:srgbClr val="4CC9F0"/>
                          </a:solidFill>
                          <a:latin typeface="Calibri"/>
                        </a:rPr>
                        <a:t>What is checked?</a:t>
                      </a:r>
                    </a:p>
                  </a:txBody>
                  <a:tcPr anchor="ctr" marL="73152" marR="73152" marT="36576" marB="36576">
                    <a:solidFill>
                      <a:srgbClr val="152034"/>
                    </a:solidFill>
                  </a:tcPr>
                </a:tc>
                <a:tc>
                  <a:txBody>
                    <a:bodyPr wrap="square"/>
                    <a:lstStyle/>
                    <a:p>
                      <a:pPr algn="l"/>
                      <a:r>
                        <a:rPr sz="1400" b="0" i="0">
                          <a:solidFill>
                            <a:srgbClr val="FFFFFF"/>
                          </a:solidFill>
                          <a:latin typeface="Calibri"/>
                        </a:rPr>
                        <a:t>Exact file bytes</a:t>
                      </a:r>
                    </a:p>
                  </a:txBody>
                  <a:tcPr anchor="ctr" marL="73152" marR="73152" marT="36576" marB="36576">
                    <a:solidFill>
                      <a:srgbClr val="152034"/>
                    </a:solidFill>
                  </a:tcPr>
                </a:tc>
                <a:tc>
                  <a:txBody>
                    <a:bodyPr wrap="square"/>
                    <a:lstStyle/>
                    <a:p>
                      <a:pPr algn="l"/>
                      <a:r>
                        <a:rPr sz="1400" b="0" i="0">
                          <a:solidFill>
                            <a:srgbClr val="FFFFFF"/>
                          </a:solidFill>
                          <a:latin typeface="Calibri"/>
                        </a:rPr>
                        <a:t>Message plus shared secret</a:t>
                      </a:r>
                    </a:p>
                  </a:txBody>
                  <a:tcPr anchor="ctr" marL="73152" marR="73152" marT="36576" marB="36576">
                    <a:solidFill>
                      <a:srgbClr val="152034"/>
                    </a:solidFill>
                  </a:tcPr>
                </a:tc>
                <a:tc>
                  <a:txBody>
                    <a:bodyPr wrap="square"/>
                    <a:lstStyle/>
                    <a:p>
                      <a:pPr algn="l"/>
                      <a:r>
                        <a:rPr sz="1400" b="0" i="0">
                          <a:solidFill>
                            <a:srgbClr val="FFFFFF"/>
                          </a:solidFill>
                          <a:latin typeface="Calibri"/>
                        </a:rPr>
                        <a:t>Exact UTF-8 bytes</a:t>
                      </a:r>
                    </a:p>
                  </a:txBody>
                  <a:tcPr anchor="ctr" marL="73152" marR="73152" marT="36576" marB="36576">
                    <a:solidFill>
                      <a:srgbClr val="152034"/>
                    </a:solidFill>
                  </a:tcPr>
                </a:tc>
              </a:tr>
              <a:tr h="640080">
                <a:tc>
                  <a:txBody>
                    <a:bodyPr wrap="square"/>
                    <a:lstStyle/>
                    <a:p>
                      <a:pPr algn="l"/>
                      <a:r>
                        <a:rPr sz="1400" b="1" i="0">
                          <a:solidFill>
                            <a:srgbClr val="4CC9F0"/>
                          </a:solidFill>
                          <a:latin typeface="Calibri"/>
                        </a:rPr>
                        <a:t>Who can verify?</a:t>
                      </a:r>
                    </a:p>
                  </a:txBody>
                  <a:tcPr anchor="ctr" marL="73152" marR="73152" marT="36576" marB="36576">
                    <a:solidFill>
                      <a:srgbClr val="1A2840"/>
                    </a:solidFill>
                  </a:tcPr>
                </a:tc>
                <a:tc>
                  <a:txBody>
                    <a:bodyPr wrap="square"/>
                    <a:lstStyle/>
                    <a:p>
                      <a:pPr algn="l"/>
                      <a:r>
                        <a:rPr sz="1400" b="0" i="0">
                          <a:solidFill>
                            <a:srgbClr val="FFFFFF"/>
                          </a:solidFill>
                          <a:latin typeface="Calibri"/>
                        </a:rPr>
                        <a:t>Anyone with the reference</a:t>
                      </a:r>
                    </a:p>
                  </a:txBody>
                  <a:tcPr anchor="ctr" marL="73152" marR="73152" marT="36576" marB="36576">
                    <a:solidFill>
                      <a:srgbClr val="1A2840"/>
                    </a:solidFill>
                  </a:tcPr>
                </a:tc>
                <a:tc>
                  <a:txBody>
                    <a:bodyPr wrap="square"/>
                    <a:lstStyle/>
                    <a:p>
                      <a:pPr algn="l"/>
                      <a:r>
                        <a:rPr sz="1400" b="0" i="0">
                          <a:solidFill>
                            <a:srgbClr val="FFFFFF"/>
                          </a:solidFill>
                          <a:latin typeface="Calibri"/>
                        </a:rPr>
                        <a:t>Anyone with the secret</a:t>
                      </a:r>
                    </a:p>
                  </a:txBody>
                  <a:tcPr anchor="ctr" marL="73152" marR="73152" marT="36576" marB="36576">
                    <a:solidFill>
                      <a:srgbClr val="1A2840"/>
                    </a:solidFill>
                  </a:tcPr>
                </a:tc>
                <a:tc>
                  <a:txBody>
                    <a:bodyPr wrap="square"/>
                    <a:lstStyle/>
                    <a:p>
                      <a:pPr algn="l"/>
                      <a:r>
                        <a:rPr sz="1400" b="0" i="0">
                          <a:solidFill>
                            <a:srgbClr val="FFFFFF"/>
                          </a:solidFill>
                          <a:latin typeface="Calibri"/>
                        </a:rPr>
                        <a:t>Anyone with the public key</a:t>
                      </a:r>
                    </a:p>
                  </a:txBody>
                  <a:tcPr anchor="ctr" marL="73152" marR="73152" marT="36576" marB="36576">
                    <a:solidFill>
                      <a:srgbClr val="1A2840"/>
                    </a:solidFill>
                  </a:tcPr>
                </a:tc>
              </a:tr>
              <a:tr h="640080">
                <a:tc>
                  <a:txBody>
                    <a:bodyPr wrap="square"/>
                    <a:lstStyle/>
                    <a:p>
                      <a:pPr algn="l"/>
                      <a:r>
                        <a:rPr sz="1400" b="1" i="0">
                          <a:solidFill>
                            <a:srgbClr val="4CC9F0"/>
                          </a:solidFill>
                          <a:latin typeface="Calibri"/>
                        </a:rPr>
                        <a:t>Key material</a:t>
                      </a:r>
                    </a:p>
                  </a:txBody>
                  <a:tcPr anchor="ctr" marL="73152" marR="73152" marT="36576" marB="36576">
                    <a:solidFill>
                      <a:srgbClr val="152034"/>
                    </a:solidFill>
                  </a:tcPr>
                </a:tc>
                <a:tc>
                  <a:txBody>
                    <a:bodyPr wrap="square"/>
                    <a:lstStyle/>
                    <a:p>
                      <a:pPr algn="l"/>
                      <a:r>
                        <a:rPr sz="1400" b="0" i="0">
                          <a:solidFill>
                            <a:srgbClr val="FFFFFF"/>
                          </a:solidFill>
                          <a:latin typeface="Calibri"/>
                        </a:rPr>
                        <a:t>None</a:t>
                      </a:r>
                    </a:p>
                  </a:txBody>
                  <a:tcPr anchor="ctr" marL="73152" marR="73152" marT="36576" marB="36576">
                    <a:solidFill>
                      <a:srgbClr val="152034"/>
                    </a:solidFill>
                  </a:tcPr>
                </a:tc>
                <a:tc>
                  <a:txBody>
                    <a:bodyPr wrap="square"/>
                    <a:lstStyle/>
                    <a:p>
                      <a:pPr algn="l"/>
                      <a:r>
                        <a:rPr sz="1400" b="0" i="0">
                          <a:solidFill>
                            <a:srgbClr val="FFFFFF"/>
                          </a:solidFill>
                          <a:latin typeface="Calibri"/>
                        </a:rPr>
                        <a:t>Shared secret</a:t>
                      </a:r>
                    </a:p>
                  </a:txBody>
                  <a:tcPr anchor="ctr" marL="73152" marR="73152" marT="36576" marB="36576">
                    <a:solidFill>
                      <a:srgbClr val="152034"/>
                    </a:solidFill>
                  </a:tcPr>
                </a:tc>
                <a:tc>
                  <a:txBody>
                    <a:bodyPr wrap="square"/>
                    <a:lstStyle/>
                    <a:p>
                      <a:pPr algn="l"/>
                      <a:r>
                        <a:rPr sz="1400" b="0" i="0">
                          <a:solidFill>
                            <a:srgbClr val="FFFFFF"/>
                          </a:solidFill>
                          <a:latin typeface="Calibri"/>
                        </a:rPr>
                        <a:t>Private key signs</a:t>
                      </a:r>
                    </a:p>
                  </a:txBody>
                  <a:tcPr anchor="ctr" marL="73152" marR="73152" marT="36576" marB="36576">
                    <a:solidFill>
                      <a:srgbClr val="152034"/>
                    </a:solidFill>
                  </a:tcPr>
                </a:tc>
              </a:tr>
              <a:tr h="640080">
                <a:tc>
                  <a:txBody>
                    <a:bodyPr wrap="square"/>
                    <a:lstStyle/>
                    <a:p>
                      <a:pPr algn="l"/>
                      <a:r>
                        <a:rPr sz="1400" b="1" i="0">
                          <a:solidFill>
                            <a:srgbClr val="4CC9F0"/>
                          </a:solidFill>
                          <a:latin typeface="Calibri"/>
                        </a:rPr>
                        <a:t>Identity?</a:t>
                      </a:r>
                    </a:p>
                  </a:txBody>
                  <a:tcPr anchor="ctr" marL="73152" marR="73152" marT="36576" marB="36576">
                    <a:solidFill>
                      <a:srgbClr val="1A2840"/>
                    </a:solidFill>
                  </a:tcPr>
                </a:tc>
                <a:tc>
                  <a:txBody>
                    <a:bodyPr wrap="square"/>
                    <a:lstStyle/>
                    <a:p>
                      <a:pPr algn="l"/>
                      <a:r>
                        <a:rPr sz="1400" b="0" i="0">
                          <a:solidFill>
                            <a:srgbClr val="FFFFFF"/>
                          </a:solidFill>
                          <a:latin typeface="Calibri"/>
                        </a:rPr>
                        <a:t>No</a:t>
                      </a:r>
                    </a:p>
                  </a:txBody>
                  <a:tcPr anchor="ctr" marL="73152" marR="73152" marT="36576" marB="36576">
                    <a:solidFill>
                      <a:srgbClr val="1A2840"/>
                    </a:solidFill>
                  </a:tcPr>
                </a:tc>
                <a:tc>
                  <a:txBody>
                    <a:bodyPr wrap="square"/>
                    <a:lstStyle/>
                    <a:p>
                      <a:pPr algn="l"/>
                      <a:r>
                        <a:rPr sz="1400" b="0" i="0">
                          <a:solidFill>
                            <a:srgbClr val="FFFFFF"/>
                          </a:solidFill>
                          <a:latin typeface="Calibri"/>
                        </a:rPr>
                        <a:t>No</a:t>
                      </a:r>
                    </a:p>
                  </a:txBody>
                  <a:tcPr anchor="ctr" marL="73152" marR="73152" marT="36576" marB="36576">
                    <a:solidFill>
                      <a:srgbClr val="1A2840"/>
                    </a:solidFill>
                  </a:tcPr>
                </a:tc>
                <a:tc>
                  <a:txBody>
                    <a:bodyPr wrap="square"/>
                    <a:lstStyle/>
                    <a:p>
                      <a:pPr algn="l"/>
                      <a:r>
                        <a:rPr sz="1400" b="0" i="0">
                          <a:solidFill>
                            <a:srgbClr val="FFFFFF"/>
                          </a:solidFill>
                          <a:latin typeface="Calibri"/>
                        </a:rPr>
                        <a:t>Only if the key is trusted</a:t>
                      </a:r>
                    </a:p>
                  </a:txBody>
                  <a:tcPr anchor="ctr" marL="73152" marR="73152" marT="36576" marB="36576">
                    <a:solidFill>
                      <a:srgbClr val="1A2840"/>
                    </a:solidFill>
                  </a:tcPr>
                </a:tc>
              </a:tr>
              <a:tr h="640080">
                <a:tc>
                  <a:txBody>
                    <a:bodyPr wrap="square"/>
                    <a:lstStyle/>
                    <a:p>
                      <a:pPr algn="l"/>
                      <a:r>
                        <a:rPr sz="1400" b="1" i="0">
                          <a:solidFill>
                            <a:srgbClr val="4CC9F0"/>
                          </a:solidFill>
                          <a:latin typeface="Calibri"/>
                        </a:rPr>
                        <a:t>CryptoGuard stores</a:t>
                      </a:r>
                    </a:p>
                  </a:txBody>
                  <a:tcPr anchor="ctr" marL="73152" marR="73152" marT="36576" marB="36576">
                    <a:solidFill>
                      <a:srgbClr val="152034"/>
                    </a:solidFill>
                  </a:tcPr>
                </a:tc>
                <a:tc>
                  <a:txBody>
                    <a:bodyPr wrap="square"/>
                    <a:lstStyle/>
                    <a:p>
                      <a:pPr algn="l"/>
                      <a:r>
                        <a:rPr sz="1400" b="0" i="0">
                          <a:solidFill>
                            <a:srgbClr val="FFFFFF"/>
                          </a:solidFill>
                          <a:latin typeface="Calibri"/>
                        </a:rPr>
                        <a:t>Digest, not the file</a:t>
                      </a:r>
                    </a:p>
                  </a:txBody>
                  <a:tcPr anchor="ctr" marL="73152" marR="73152" marT="36576" marB="36576">
                    <a:solidFill>
                      <a:srgbClr val="152034"/>
                    </a:solidFill>
                  </a:tcPr>
                </a:tc>
                <a:tc>
                  <a:txBody>
                    <a:bodyPr wrap="square"/>
                    <a:lstStyle/>
                    <a:p>
                      <a:pPr algn="l"/>
                      <a:r>
                        <a:rPr sz="1400" b="0" i="0">
                          <a:solidFill>
                            <a:srgbClr val="FFFFFF"/>
                          </a:solidFill>
                          <a:latin typeface="Calibri"/>
                        </a:rPr>
                        <a:t>Neither secret nor tag</a:t>
                      </a:r>
                    </a:p>
                  </a:txBody>
                  <a:tcPr anchor="ctr" marL="73152" marR="73152" marT="36576" marB="36576">
                    <a:solidFill>
                      <a:srgbClr val="152034"/>
                    </a:solidFill>
                  </a:tcPr>
                </a:tc>
                <a:tc>
                  <a:txBody>
                    <a:bodyPr wrap="square"/>
                    <a:lstStyle/>
                    <a:p>
                      <a:pPr algn="l"/>
                      <a:r>
                        <a:rPr sz="1400" b="0" i="0">
                          <a:solidFill>
                            <a:srgbClr val="FFFFFF"/>
                          </a:solidFill>
                          <a:latin typeface="Calibri"/>
                        </a:rPr>
                        <a:t>Not the private key</a:t>
                      </a:r>
                    </a:p>
                  </a:txBody>
                  <a:tcPr anchor="ctr" marL="73152" marR="73152" marT="36576" marB="36576">
                    <a:solidFill>
                      <a:srgbClr val="152034"/>
                    </a:solidFill>
                  </a:tcPr>
                </a:tc>
              </a:tr>
            </a:tbl>
          </a:graphicData>
        </a:graphic>
      </p:graphicFrame>
      <p:sp>
        <p:nvSpPr>
          <p:cNvPr id="6" name="TextBox 5"/>
          <p:cNvSpPr txBox="1"/>
          <p:nvPr/>
        </p:nvSpPr>
        <p:spPr>
          <a:xfrm>
            <a:off x="384048" y="5806440"/>
            <a:ext cx="11338560" cy="502920"/>
          </a:xfrm>
          <a:prstGeom prst="rect">
            <a:avLst/>
          </a:prstGeom>
          <a:noFill/>
        </p:spPr>
        <p:txBody>
          <a:bodyPr wrap="square" anchor="t" lIns="0" rIns="0" tIns="0" bIns="0"/>
          <a:lstStyle/>
          <a:p>
            <a:pPr algn="l">
              <a:spcBef>
                <a:spcPts val="0"/>
              </a:spcBef>
              <a:spcAft>
                <a:spcPts val="200"/>
              </a:spcAft>
            </a:pPr>
            <a:r>
              <a:rPr sz="1500" b="0" i="0">
                <a:solidFill>
                  <a:srgbClr val="C5D2E4"/>
                </a:solidFill>
                <a:latin typeface="Calibri"/>
              </a:rPr>
              <a:t>A passing result answers only the row that was tested. It is not a general certificate of software safety.</a:t>
            </a:r>
          </a:p>
        </p:txBody>
      </p:sp>
      <p:sp>
        <p:nvSpPr>
          <p:cNvPr id="7" name="TextBox 6"/>
          <p:cNvSpPr txBox="1"/>
          <p:nvPr/>
        </p:nvSpPr>
        <p:spPr>
          <a:xfrm>
            <a:off x="347472" y="6528816"/>
            <a:ext cx="9326880" cy="237744"/>
          </a:xfrm>
          <a:prstGeom prst="rect">
            <a:avLst/>
          </a:prstGeom>
          <a:noFill/>
        </p:spPr>
        <p:txBody>
          <a:bodyPr wrap="square" anchor="t" lIns="0" rIns="0" tIns="0" bIns="0"/>
          <a:lstStyle/>
          <a:p>
            <a:pPr algn="l">
              <a:spcBef>
                <a:spcPts val="0"/>
              </a:spcBef>
              <a:spcAft>
                <a:spcPts val="200"/>
              </a:spcAft>
            </a:pPr>
            <a:r>
              <a:rPr sz="1200" b="0" i="0">
                <a:solidFill>
                  <a:srgbClr val="8EA2BB"/>
                </a:solidFill>
                <a:latin typeface="Calibri"/>
              </a:rPr>
              <a:t>CryptoGuard   ·   Comparison</a:t>
            </a:r>
          </a:p>
        </p:txBody>
      </p:sp>
      <p:sp>
        <p:nvSpPr>
          <p:cNvPr id="8" name="TextBox 7"/>
          <p:cNvSpPr txBox="1"/>
          <p:nvPr/>
        </p:nvSpPr>
        <p:spPr>
          <a:xfrm>
            <a:off x="10515600" y="6528816"/>
            <a:ext cx="1325880" cy="237744"/>
          </a:xfrm>
          <a:prstGeom prst="rect">
            <a:avLst/>
          </a:prstGeom>
          <a:noFill/>
        </p:spPr>
        <p:txBody>
          <a:bodyPr wrap="square" anchor="t" lIns="0" rIns="0" tIns="0" bIns="0"/>
          <a:lstStyle/>
          <a:p>
            <a:pPr algn="r">
              <a:spcBef>
                <a:spcPts val="0"/>
              </a:spcBef>
              <a:spcAft>
                <a:spcPts val="200"/>
              </a:spcAft>
            </a:pPr>
            <a:r>
              <a:rPr sz="1200" b="0" i="0">
                <a:solidFill>
                  <a:srgbClr val="8EA2BB"/>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37744"/>
            <a:ext cx="9144000" cy="256032"/>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SYSTEM ARCHITECTURE</a:t>
            </a:r>
          </a:p>
        </p:txBody>
      </p:sp>
      <p:sp>
        <p:nvSpPr>
          <p:cNvPr id="4" name="TextBox 3"/>
          <p:cNvSpPr txBox="1"/>
          <p:nvPr/>
        </p:nvSpPr>
        <p:spPr>
          <a:xfrm>
            <a:off x="384048" y="475488"/>
            <a:ext cx="11338560" cy="438912"/>
          </a:xfrm>
          <a:prstGeom prst="rect">
            <a:avLst/>
          </a:prstGeom>
          <a:noFill/>
        </p:spPr>
        <p:txBody>
          <a:bodyPr wrap="square" anchor="t" lIns="0" rIns="0" tIns="0" bIns="0"/>
          <a:lstStyle/>
          <a:p>
            <a:pPr algn="l">
              <a:spcBef>
                <a:spcPts val="0"/>
              </a:spcBef>
              <a:spcAft>
                <a:spcPts val="200"/>
              </a:spcAft>
            </a:pPr>
            <a:r>
              <a:rPr sz="3000" b="1" i="0">
                <a:solidFill>
                  <a:srgbClr val="FFFFFF"/>
                </a:solidFill>
                <a:latin typeface="Calibri"/>
              </a:rPr>
              <a:t>What the running application actually does</a:t>
            </a:r>
          </a:p>
        </p:txBody>
      </p:sp>
      <p:sp>
        <p:nvSpPr>
          <p:cNvPr id="5" name="Rounded Rectangle 4"/>
          <p:cNvSpPr/>
          <p:nvPr/>
        </p:nvSpPr>
        <p:spPr>
          <a:xfrm>
            <a:off x="384048" y="1234440"/>
            <a:ext cx="2606040" cy="123444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371600"/>
            <a:ext cx="2331720" cy="365760"/>
          </a:xfrm>
          <a:prstGeom prst="rect">
            <a:avLst/>
          </a:prstGeom>
          <a:noFill/>
        </p:spPr>
        <p:txBody>
          <a:bodyPr wrap="square" anchor="t" lIns="0" rIns="0" tIns="0" bIns="0"/>
          <a:lstStyle/>
          <a:p>
            <a:pPr algn="l">
              <a:spcBef>
                <a:spcPts val="0"/>
              </a:spcBef>
              <a:spcAft>
                <a:spcPts val="200"/>
              </a:spcAft>
            </a:pPr>
            <a:r>
              <a:rPr sz="1600" b="1" i="0">
                <a:solidFill>
                  <a:srgbClr val="FFFFFF"/>
                </a:solidFill>
                <a:latin typeface="Calibri"/>
              </a:rPr>
              <a:t>Browser</a:t>
            </a:r>
          </a:p>
        </p:txBody>
      </p:sp>
      <p:sp>
        <p:nvSpPr>
          <p:cNvPr id="7" name="TextBox 6"/>
          <p:cNvSpPr txBox="1"/>
          <p:nvPr/>
        </p:nvSpPr>
        <p:spPr>
          <a:xfrm>
            <a:off x="530352" y="1810512"/>
            <a:ext cx="2331720" cy="411480"/>
          </a:xfrm>
          <a:prstGeom prst="rect">
            <a:avLst/>
          </a:prstGeom>
          <a:noFill/>
        </p:spPr>
        <p:txBody>
          <a:bodyPr wrap="square" anchor="t" lIns="0" rIns="0" tIns="0" bIns="0"/>
          <a:lstStyle/>
          <a:p>
            <a:pPr algn="l">
              <a:spcBef>
                <a:spcPts val="0"/>
              </a:spcBef>
              <a:spcAft>
                <a:spcPts val="200"/>
              </a:spcAft>
            </a:pPr>
            <a:r>
              <a:rPr sz="1300" b="0" i="0">
                <a:solidFill>
                  <a:srgbClr val="C5D2E4"/>
                </a:solidFill>
                <a:latin typeface="Calibri"/>
              </a:rPr>
              <a:t>User</a:t>
            </a:r>
          </a:p>
        </p:txBody>
      </p:sp>
      <p:sp>
        <p:nvSpPr>
          <p:cNvPr id="8" name="TextBox 7"/>
          <p:cNvSpPr txBox="1"/>
          <p:nvPr/>
        </p:nvSpPr>
        <p:spPr>
          <a:xfrm>
            <a:off x="2871216" y="1600200"/>
            <a:ext cx="457200" cy="365760"/>
          </a:xfrm>
          <a:prstGeom prst="rect">
            <a:avLst/>
          </a:prstGeom>
          <a:noFill/>
        </p:spPr>
        <p:txBody>
          <a:bodyPr wrap="square" anchor="t" lIns="0" rIns="0" tIns="0" bIns="0"/>
          <a:lstStyle/>
          <a:p>
            <a:pPr algn="ctr">
              <a:spcBef>
                <a:spcPts val="0"/>
              </a:spcBef>
              <a:spcAft>
                <a:spcPts val="200"/>
              </a:spcAft>
            </a:pPr>
            <a:r>
              <a:rPr sz="2200" b="1" i="0">
                <a:solidFill>
                  <a:srgbClr val="4CC9F0"/>
                </a:solidFill>
                <a:latin typeface="Calibri"/>
              </a:rPr>
              <a:t>›</a:t>
            </a:r>
          </a:p>
        </p:txBody>
      </p:sp>
      <p:sp>
        <p:nvSpPr>
          <p:cNvPr id="9" name="Rounded Rectangle 8"/>
          <p:cNvSpPr/>
          <p:nvPr/>
        </p:nvSpPr>
        <p:spPr>
          <a:xfrm>
            <a:off x="3328416" y="1234440"/>
            <a:ext cx="2606040" cy="123444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1371600"/>
            <a:ext cx="2331720" cy="365760"/>
          </a:xfrm>
          <a:prstGeom prst="rect">
            <a:avLst/>
          </a:prstGeom>
          <a:noFill/>
        </p:spPr>
        <p:txBody>
          <a:bodyPr wrap="square" anchor="t" lIns="0" rIns="0" tIns="0" bIns="0"/>
          <a:lstStyle/>
          <a:p>
            <a:pPr algn="l">
              <a:spcBef>
                <a:spcPts val="0"/>
              </a:spcBef>
              <a:spcAft>
                <a:spcPts val="200"/>
              </a:spcAft>
            </a:pPr>
            <a:r>
              <a:rPr sz="1600" b="1" i="0">
                <a:solidFill>
                  <a:srgbClr val="FFFFFF"/>
                </a:solidFill>
                <a:latin typeface="Calibri"/>
              </a:rPr>
              <a:t>React + Vite</a:t>
            </a:r>
          </a:p>
        </p:txBody>
      </p:sp>
      <p:sp>
        <p:nvSpPr>
          <p:cNvPr id="11" name="TextBox 10"/>
          <p:cNvSpPr txBox="1"/>
          <p:nvPr/>
        </p:nvSpPr>
        <p:spPr>
          <a:xfrm>
            <a:off x="3474720" y="1810512"/>
            <a:ext cx="2331720" cy="411480"/>
          </a:xfrm>
          <a:prstGeom prst="rect">
            <a:avLst/>
          </a:prstGeom>
          <a:noFill/>
        </p:spPr>
        <p:txBody>
          <a:bodyPr wrap="square" anchor="t" lIns="0" rIns="0" tIns="0" bIns="0"/>
          <a:lstStyle/>
          <a:p>
            <a:pPr algn="l">
              <a:spcBef>
                <a:spcPts val="0"/>
              </a:spcBef>
              <a:spcAft>
                <a:spcPts val="200"/>
              </a:spcAft>
            </a:pPr>
            <a:r>
              <a:rPr sz="1300" b="0" i="0">
                <a:solidFill>
                  <a:srgbClr val="C5D2E4"/>
                </a:solidFill>
                <a:latin typeface="Calibri"/>
              </a:rPr>
              <a:t>TypeScript UI</a:t>
            </a:r>
          </a:p>
        </p:txBody>
      </p:sp>
      <p:sp>
        <p:nvSpPr>
          <p:cNvPr id="12" name="TextBox 11"/>
          <p:cNvSpPr txBox="1"/>
          <p:nvPr/>
        </p:nvSpPr>
        <p:spPr>
          <a:xfrm>
            <a:off x="5815584" y="1600200"/>
            <a:ext cx="457200" cy="365760"/>
          </a:xfrm>
          <a:prstGeom prst="rect">
            <a:avLst/>
          </a:prstGeom>
          <a:noFill/>
        </p:spPr>
        <p:txBody>
          <a:bodyPr wrap="square" anchor="t" lIns="0" rIns="0" tIns="0" bIns="0"/>
          <a:lstStyle/>
          <a:p>
            <a:pPr algn="ctr">
              <a:spcBef>
                <a:spcPts val="0"/>
              </a:spcBef>
              <a:spcAft>
                <a:spcPts val="200"/>
              </a:spcAft>
            </a:pPr>
            <a:r>
              <a:rPr sz="2200" b="1" i="0">
                <a:solidFill>
                  <a:srgbClr val="4CC9F0"/>
                </a:solidFill>
                <a:latin typeface="Calibri"/>
              </a:rPr>
              <a:t>›</a:t>
            </a:r>
          </a:p>
        </p:txBody>
      </p:sp>
      <p:sp>
        <p:nvSpPr>
          <p:cNvPr id="13" name="Rounded Rectangle 12"/>
          <p:cNvSpPr/>
          <p:nvPr/>
        </p:nvSpPr>
        <p:spPr>
          <a:xfrm>
            <a:off x="6272784" y="1234440"/>
            <a:ext cx="2606040" cy="123444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1371600"/>
            <a:ext cx="2331720" cy="365760"/>
          </a:xfrm>
          <a:prstGeom prst="rect">
            <a:avLst/>
          </a:prstGeom>
          <a:noFill/>
        </p:spPr>
        <p:txBody>
          <a:bodyPr wrap="square" anchor="t" lIns="0" rIns="0" tIns="0" bIns="0"/>
          <a:lstStyle/>
          <a:p>
            <a:pPr algn="l">
              <a:spcBef>
                <a:spcPts val="0"/>
              </a:spcBef>
              <a:spcAft>
                <a:spcPts val="200"/>
              </a:spcAft>
            </a:pPr>
            <a:r>
              <a:rPr sz="1600" b="1" i="0">
                <a:solidFill>
                  <a:srgbClr val="FFFFFF"/>
                </a:solidFill>
                <a:latin typeface="Calibri"/>
              </a:rPr>
              <a:t>FastAPI</a:t>
            </a:r>
          </a:p>
        </p:txBody>
      </p:sp>
      <p:sp>
        <p:nvSpPr>
          <p:cNvPr id="15" name="TextBox 14"/>
          <p:cNvSpPr txBox="1"/>
          <p:nvPr/>
        </p:nvSpPr>
        <p:spPr>
          <a:xfrm>
            <a:off x="6419088" y="1810512"/>
            <a:ext cx="2331720" cy="411480"/>
          </a:xfrm>
          <a:prstGeom prst="rect">
            <a:avLst/>
          </a:prstGeom>
          <a:noFill/>
        </p:spPr>
        <p:txBody>
          <a:bodyPr wrap="square" anchor="t" lIns="0" rIns="0" tIns="0" bIns="0"/>
          <a:lstStyle/>
          <a:p>
            <a:pPr algn="l">
              <a:spcBef>
                <a:spcPts val="0"/>
              </a:spcBef>
              <a:spcAft>
                <a:spcPts val="200"/>
              </a:spcAft>
            </a:pPr>
            <a:r>
              <a:rPr sz="1300" b="0" i="0">
                <a:solidFill>
                  <a:srgbClr val="C5D2E4"/>
                </a:solidFill>
                <a:latin typeface="Calibri"/>
              </a:rPr>
              <a:t>Uvicorn  ·  /api</a:t>
            </a:r>
          </a:p>
        </p:txBody>
      </p:sp>
      <p:sp>
        <p:nvSpPr>
          <p:cNvPr id="16" name="TextBox 15"/>
          <p:cNvSpPr txBox="1"/>
          <p:nvPr/>
        </p:nvSpPr>
        <p:spPr>
          <a:xfrm>
            <a:off x="8759952" y="1600200"/>
            <a:ext cx="457200" cy="365760"/>
          </a:xfrm>
          <a:prstGeom prst="rect">
            <a:avLst/>
          </a:prstGeom>
          <a:noFill/>
        </p:spPr>
        <p:txBody>
          <a:bodyPr wrap="square" anchor="t" lIns="0" rIns="0" tIns="0" bIns="0"/>
          <a:lstStyle/>
          <a:p>
            <a:pPr algn="ctr">
              <a:spcBef>
                <a:spcPts val="0"/>
              </a:spcBef>
              <a:spcAft>
                <a:spcPts val="200"/>
              </a:spcAft>
            </a:pPr>
            <a:r>
              <a:rPr sz="2200" b="1" i="0">
                <a:solidFill>
                  <a:srgbClr val="4CC9F0"/>
                </a:solidFill>
                <a:latin typeface="Calibri"/>
              </a:rPr>
              <a:t>›</a:t>
            </a:r>
          </a:p>
        </p:txBody>
      </p:sp>
      <p:sp>
        <p:nvSpPr>
          <p:cNvPr id="17" name="Rounded Rectangle 16"/>
          <p:cNvSpPr/>
          <p:nvPr/>
        </p:nvSpPr>
        <p:spPr>
          <a:xfrm>
            <a:off x="9217152" y="1234440"/>
            <a:ext cx="2606040" cy="123444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63456" y="1371600"/>
            <a:ext cx="2331720" cy="365760"/>
          </a:xfrm>
          <a:prstGeom prst="rect">
            <a:avLst/>
          </a:prstGeom>
          <a:noFill/>
        </p:spPr>
        <p:txBody>
          <a:bodyPr wrap="square" anchor="t" lIns="0" rIns="0" tIns="0" bIns="0"/>
          <a:lstStyle/>
          <a:p>
            <a:pPr algn="l">
              <a:spcBef>
                <a:spcPts val="0"/>
              </a:spcBef>
              <a:spcAft>
                <a:spcPts val="200"/>
              </a:spcAft>
            </a:pPr>
            <a:r>
              <a:rPr sz="1600" b="1" i="0">
                <a:solidFill>
                  <a:srgbClr val="FFFFFF"/>
                </a:solidFill>
                <a:latin typeface="Calibri"/>
              </a:rPr>
              <a:t>Services</a:t>
            </a:r>
          </a:p>
        </p:txBody>
      </p:sp>
      <p:sp>
        <p:nvSpPr>
          <p:cNvPr id="19" name="TextBox 18"/>
          <p:cNvSpPr txBox="1"/>
          <p:nvPr/>
        </p:nvSpPr>
        <p:spPr>
          <a:xfrm>
            <a:off x="9363456" y="1810512"/>
            <a:ext cx="2331720" cy="411480"/>
          </a:xfrm>
          <a:prstGeom prst="rect">
            <a:avLst/>
          </a:prstGeom>
          <a:noFill/>
        </p:spPr>
        <p:txBody>
          <a:bodyPr wrap="square" anchor="t" lIns="0" rIns="0" tIns="0" bIns="0"/>
          <a:lstStyle/>
          <a:p>
            <a:pPr algn="l">
              <a:spcBef>
                <a:spcPts val="0"/>
              </a:spcBef>
              <a:spcAft>
                <a:spcPts val="200"/>
              </a:spcAft>
            </a:pPr>
            <a:r>
              <a:rPr sz="1300" b="0" i="0">
                <a:solidFill>
                  <a:srgbClr val="C5D2E4"/>
                </a:solidFill>
                <a:latin typeface="Calibri"/>
              </a:rPr>
              <a:t>Hash, HMAC, RSA-PSS</a:t>
            </a:r>
          </a:p>
        </p:txBody>
      </p:sp>
      <p:sp>
        <p:nvSpPr>
          <p:cNvPr id="20" name="Rounded Rectangle 19"/>
          <p:cNvSpPr/>
          <p:nvPr/>
        </p:nvSpPr>
        <p:spPr>
          <a:xfrm>
            <a:off x="384048" y="2880360"/>
            <a:ext cx="2788920" cy="196596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3017520"/>
            <a:ext cx="2514600" cy="274320"/>
          </a:xfrm>
          <a:prstGeom prst="rect">
            <a:avLst/>
          </a:prstGeom>
          <a:noFill/>
        </p:spPr>
        <p:txBody>
          <a:bodyPr wrap="square" anchor="t" lIns="0" rIns="0" tIns="0" bIns="0"/>
          <a:lstStyle/>
          <a:p>
            <a:pPr algn="l">
              <a:spcBef>
                <a:spcPts val="0"/>
              </a:spcBef>
              <a:spcAft>
                <a:spcPts val="200"/>
              </a:spcAft>
            </a:pPr>
            <a:r>
              <a:rPr sz="1500" b="1" i="0">
                <a:solidFill>
                  <a:srgbClr val="4CC9F0"/>
                </a:solidFill>
                <a:latin typeface="Calibri"/>
              </a:rPr>
              <a:t>SQLite</a:t>
            </a:r>
          </a:p>
        </p:txBody>
      </p:sp>
      <p:sp>
        <p:nvSpPr>
          <p:cNvPr id="22" name="TextBox 21"/>
          <p:cNvSpPr txBox="1"/>
          <p:nvPr/>
        </p:nvSpPr>
        <p:spPr>
          <a:xfrm>
            <a:off x="530352" y="3383280"/>
            <a:ext cx="2514600" cy="1280160"/>
          </a:xfrm>
          <a:prstGeom prst="rect">
            <a:avLst/>
          </a:prstGeom>
          <a:noFill/>
        </p:spPr>
        <p:txBody>
          <a:bodyPr wrap="square" anchor="t" lIns="0" rIns="0" tIns="0" bIns="0"/>
          <a:lstStyle/>
          <a:p>
            <a:pPr algn="l">
              <a:spcBef>
                <a:spcPts val="0"/>
              </a:spcBef>
              <a:spcAft>
                <a:spcPts val="200"/>
              </a:spcAft>
            </a:pPr>
            <a:r>
              <a:rPr sz="1300" b="0" i="0">
                <a:solidFill>
                  <a:srgbClr val="C5D2E4"/>
                </a:solidFill>
                <a:latin typeface="Calibri"/>
              </a:rPr>
              <a:t>verification_records</a:t>
            </a:r>
          </a:p>
          <a:p>
            <a:pPr algn="l">
              <a:spcBef>
                <a:spcPts val="0"/>
              </a:spcBef>
              <a:spcAft>
                <a:spcPts val="200"/>
              </a:spcAft>
            </a:pPr>
            <a:r>
              <a:rPr sz="1300" b="0" i="0">
                <a:solidFill>
                  <a:srgbClr val="C5D2E4"/>
                </a:solidFill>
                <a:latin typeface="Calibri"/>
              </a:rPr>
              <a:t>vulnerability cache</a:t>
            </a:r>
          </a:p>
          <a:p>
            <a:pPr algn="l">
              <a:spcBef>
                <a:spcPts val="0"/>
              </a:spcBef>
              <a:spcAft>
                <a:spcPts val="200"/>
              </a:spcAft>
            </a:pPr>
            <a:r>
              <a:rPr sz="1300" b="0" i="0">
                <a:solidFill>
                  <a:srgbClr val="C5D2E4"/>
                </a:solidFill>
                <a:latin typeface="Calibri"/>
              </a:rPr>
              <a:t>source checks</a:t>
            </a:r>
          </a:p>
        </p:txBody>
      </p:sp>
      <p:sp>
        <p:nvSpPr>
          <p:cNvPr id="23" name="Rounded Rectangle 22"/>
          <p:cNvSpPr/>
          <p:nvPr/>
        </p:nvSpPr>
        <p:spPr>
          <a:xfrm>
            <a:off x="3328416" y="2880360"/>
            <a:ext cx="2788920" cy="196596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74720" y="3017520"/>
            <a:ext cx="2514600" cy="274320"/>
          </a:xfrm>
          <a:prstGeom prst="rect">
            <a:avLst/>
          </a:prstGeom>
          <a:noFill/>
        </p:spPr>
        <p:txBody>
          <a:bodyPr wrap="square" anchor="t" lIns="0" rIns="0" tIns="0" bIns="0"/>
          <a:lstStyle/>
          <a:p>
            <a:pPr algn="l">
              <a:spcBef>
                <a:spcPts val="0"/>
              </a:spcBef>
              <a:spcAft>
                <a:spcPts val="200"/>
              </a:spcAft>
            </a:pPr>
            <a:r>
              <a:rPr sz="1500" b="1" i="0">
                <a:solidFill>
                  <a:srgbClr val="3DDC97"/>
                </a:solidFill>
                <a:latin typeface="Calibri"/>
              </a:rPr>
              <a:t>OSV</a:t>
            </a:r>
          </a:p>
        </p:txBody>
      </p:sp>
      <p:sp>
        <p:nvSpPr>
          <p:cNvPr id="25" name="TextBox 24"/>
          <p:cNvSpPr txBox="1"/>
          <p:nvPr/>
        </p:nvSpPr>
        <p:spPr>
          <a:xfrm>
            <a:off x="3474720" y="3383280"/>
            <a:ext cx="2514600" cy="1280160"/>
          </a:xfrm>
          <a:prstGeom prst="rect">
            <a:avLst/>
          </a:prstGeom>
          <a:noFill/>
        </p:spPr>
        <p:txBody>
          <a:bodyPr wrap="square" anchor="t" lIns="0" rIns="0" tIns="0" bIns="0"/>
          <a:lstStyle/>
          <a:p>
            <a:pPr algn="l">
              <a:spcBef>
                <a:spcPts val="0"/>
              </a:spcBef>
              <a:spcAft>
                <a:spcPts val="200"/>
              </a:spcAft>
            </a:pPr>
            <a:r>
              <a:rPr sz="1300" b="0" i="0">
                <a:solidFill>
                  <a:srgbClr val="C5D2E4"/>
                </a:solidFill>
                <a:latin typeface="Calibri"/>
              </a:rPr>
              <a:t>Live query for an exact</a:t>
            </a:r>
          </a:p>
          <a:p>
            <a:pPr algn="l">
              <a:spcBef>
                <a:spcPts val="0"/>
              </a:spcBef>
              <a:spcAft>
                <a:spcPts val="200"/>
              </a:spcAft>
            </a:pPr>
            <a:r>
              <a:rPr sz="1300" b="0" i="0">
                <a:solidFill>
                  <a:srgbClr val="C5D2E4"/>
                </a:solidFill>
                <a:latin typeface="Calibri"/>
              </a:rPr>
              <a:t>package version. Empty is</a:t>
            </a:r>
          </a:p>
          <a:p>
            <a:pPr algn="l">
              <a:spcBef>
                <a:spcPts val="0"/>
              </a:spcBef>
              <a:spcAft>
                <a:spcPts val="200"/>
              </a:spcAft>
            </a:pPr>
            <a:r>
              <a:rPr sz="1300" b="0" i="0">
                <a:solidFill>
                  <a:srgbClr val="C5D2E4"/>
                </a:solidFill>
                <a:latin typeface="Calibri"/>
              </a:rPr>
              <a:t>not called safe.</a:t>
            </a:r>
          </a:p>
        </p:txBody>
      </p:sp>
      <p:sp>
        <p:nvSpPr>
          <p:cNvPr id="26" name="Rounded Rectangle 25"/>
          <p:cNvSpPr/>
          <p:nvPr/>
        </p:nvSpPr>
        <p:spPr>
          <a:xfrm>
            <a:off x="6272784" y="2880360"/>
            <a:ext cx="2788920" cy="196596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19088" y="3017520"/>
            <a:ext cx="2514600" cy="274320"/>
          </a:xfrm>
          <a:prstGeom prst="rect">
            <a:avLst/>
          </a:prstGeom>
          <a:noFill/>
        </p:spPr>
        <p:txBody>
          <a:bodyPr wrap="square" anchor="t" lIns="0" rIns="0" tIns="0" bIns="0"/>
          <a:lstStyle/>
          <a:p>
            <a:pPr algn="l">
              <a:spcBef>
                <a:spcPts val="0"/>
              </a:spcBef>
              <a:spcAft>
                <a:spcPts val="200"/>
              </a:spcAft>
            </a:pPr>
            <a:r>
              <a:rPr sz="1500" b="1" i="0">
                <a:solidFill>
                  <a:srgbClr val="F5C16C"/>
                </a:solidFill>
                <a:latin typeface="Calibri"/>
              </a:rPr>
              <a:t>NVD</a:t>
            </a:r>
          </a:p>
        </p:txBody>
      </p:sp>
      <p:sp>
        <p:nvSpPr>
          <p:cNvPr id="28" name="TextBox 27"/>
          <p:cNvSpPr txBox="1"/>
          <p:nvPr/>
        </p:nvSpPr>
        <p:spPr>
          <a:xfrm>
            <a:off x="6419088" y="3383280"/>
            <a:ext cx="2514600" cy="1280160"/>
          </a:xfrm>
          <a:prstGeom prst="rect">
            <a:avLst/>
          </a:prstGeom>
          <a:noFill/>
        </p:spPr>
        <p:txBody>
          <a:bodyPr wrap="square" anchor="t" lIns="0" rIns="0" tIns="0" bIns="0"/>
          <a:lstStyle/>
          <a:p>
            <a:pPr algn="l">
              <a:spcBef>
                <a:spcPts val="0"/>
              </a:spcBef>
              <a:spcAft>
                <a:spcPts val="200"/>
              </a:spcAft>
            </a:pPr>
            <a:r>
              <a:rPr sz="1300" b="0" i="0">
                <a:solidFill>
                  <a:srgbClr val="C5D2E4"/>
                </a:solidFill>
                <a:latin typeface="Calibri"/>
              </a:rPr>
              <a:t>Optional CVE lookup.</a:t>
            </a:r>
          </a:p>
          <a:p>
            <a:pPr algn="l">
              <a:spcBef>
                <a:spcPts val="0"/>
              </a:spcBef>
              <a:spcAft>
                <a:spcPts val="200"/>
              </a:spcAft>
            </a:pPr>
            <a:r>
              <a:rPr sz="1300" b="0" i="0">
                <a:solidFill>
                  <a:srgbClr val="C5D2E4"/>
                </a:solidFill>
                <a:latin typeface="Calibri"/>
              </a:rPr>
              <a:t>Off unless NVD_ENABLED</a:t>
            </a:r>
          </a:p>
          <a:p>
            <a:pPr algn="l">
              <a:spcBef>
                <a:spcPts val="0"/>
              </a:spcBef>
              <a:spcAft>
                <a:spcPts val="200"/>
              </a:spcAft>
            </a:pPr>
            <a:r>
              <a:rPr sz="1300" b="0" i="0">
                <a:solidFill>
                  <a:srgbClr val="C5D2E4"/>
                </a:solidFill>
                <a:latin typeface="Calibri"/>
              </a:rPr>
              <a:t>is true.</a:t>
            </a:r>
          </a:p>
        </p:txBody>
      </p:sp>
      <p:sp>
        <p:nvSpPr>
          <p:cNvPr id="29" name="Rounded Rectangle 28"/>
          <p:cNvSpPr/>
          <p:nvPr/>
        </p:nvSpPr>
        <p:spPr>
          <a:xfrm>
            <a:off x="9217152" y="2880360"/>
            <a:ext cx="2788920" cy="196596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63456" y="3017520"/>
            <a:ext cx="2514600" cy="274320"/>
          </a:xfrm>
          <a:prstGeom prst="rect">
            <a:avLst/>
          </a:prstGeom>
          <a:noFill/>
        </p:spPr>
        <p:txBody>
          <a:bodyPr wrap="square" anchor="t" lIns="0" rIns="0" tIns="0" bIns="0"/>
          <a:lstStyle/>
          <a:p>
            <a:pPr algn="l">
              <a:spcBef>
                <a:spcPts val="0"/>
              </a:spcBef>
              <a:spcAft>
                <a:spcPts val="200"/>
              </a:spcAft>
            </a:pPr>
            <a:r>
              <a:rPr sz="1500" b="1" i="0">
                <a:solidFill>
                  <a:srgbClr val="7DB7FF"/>
                </a:solidFill>
                <a:latin typeface="Calibri"/>
              </a:rPr>
              <a:t>CycloneDX 1.7</a:t>
            </a:r>
          </a:p>
        </p:txBody>
      </p:sp>
      <p:sp>
        <p:nvSpPr>
          <p:cNvPr id="31" name="TextBox 30"/>
          <p:cNvSpPr txBox="1"/>
          <p:nvPr/>
        </p:nvSpPr>
        <p:spPr>
          <a:xfrm>
            <a:off x="9363456" y="3383280"/>
            <a:ext cx="2514600" cy="1280160"/>
          </a:xfrm>
          <a:prstGeom prst="rect">
            <a:avLst/>
          </a:prstGeom>
          <a:noFill/>
        </p:spPr>
        <p:txBody>
          <a:bodyPr wrap="square" anchor="t" lIns="0" rIns="0" tIns="0" bIns="0"/>
          <a:lstStyle/>
          <a:p>
            <a:pPr algn="l">
              <a:spcBef>
                <a:spcPts val="0"/>
              </a:spcBef>
              <a:spcAft>
                <a:spcPts val="200"/>
              </a:spcAft>
            </a:pPr>
            <a:r>
              <a:rPr sz="1300" b="0" i="0">
                <a:solidFill>
                  <a:srgbClr val="C5D2E4"/>
                </a:solidFill>
                <a:latin typeface="Calibri"/>
              </a:rPr>
              <a:t>SBOM from the manifest.</a:t>
            </a:r>
          </a:p>
          <a:p>
            <a:pPr algn="l">
              <a:spcBef>
                <a:spcPts val="0"/>
              </a:spcBef>
              <a:spcAft>
                <a:spcPts val="200"/>
              </a:spcAft>
            </a:pPr>
            <a:r>
              <a:rPr sz="1300" b="0" i="0">
                <a:solidFill>
                  <a:srgbClr val="C5D2E4"/>
                </a:solidFill>
                <a:latin typeface="Calibri"/>
              </a:rPr>
              <a:t>Validated against the</a:t>
            </a:r>
          </a:p>
          <a:p>
            <a:pPr algn="l">
              <a:spcBef>
                <a:spcPts val="0"/>
              </a:spcBef>
              <a:spcAft>
                <a:spcPts val="200"/>
              </a:spcAft>
            </a:pPr>
            <a:r>
              <a:rPr sz="1300" b="0" i="0">
                <a:solidFill>
                  <a:srgbClr val="C5D2E4"/>
                </a:solidFill>
                <a:latin typeface="Calibri"/>
              </a:rPr>
              <a:t>local schema file.</a:t>
            </a:r>
          </a:p>
        </p:txBody>
      </p:sp>
      <p:sp>
        <p:nvSpPr>
          <p:cNvPr id="32" name="TextBox 31"/>
          <p:cNvSpPr txBox="1"/>
          <p:nvPr/>
        </p:nvSpPr>
        <p:spPr>
          <a:xfrm>
            <a:off x="384048" y="5029200"/>
            <a:ext cx="11338560" cy="1234440"/>
          </a:xfrm>
          <a:prstGeom prst="rect">
            <a:avLst/>
          </a:prstGeom>
          <a:noFill/>
        </p:spPr>
        <p:txBody>
          <a:bodyPr wrap="square" anchor="t" lIns="0" rIns="0" tIns="0" bIns="0"/>
          <a:lstStyle/>
          <a:p>
            <a:pPr algn="l">
              <a:spcBef>
                <a:spcPts val="0"/>
              </a:spcBef>
              <a:spcAft>
                <a:spcPts val="400"/>
              </a:spcAft>
            </a:pPr>
            <a:r>
              <a:rPr sz="1400" b="0" i="0">
                <a:solidFill>
                  <a:srgbClr val="C5D2E4"/>
                </a:solidFill>
                <a:latin typeface="Calibri"/>
              </a:rPr>
              <a:t>Request path for a hash: Integrity page → hashFile() or verifyFile() in api.ts → POST /api/integrity/hash or /verify → read_upload_hashed() → hash_result() → envelope() writes the history row.</a:t>
            </a:r>
          </a:p>
          <a:p>
            <a:pPr algn="l">
              <a:spcBef>
                <a:spcPts val="0"/>
              </a:spcBef>
              <a:spcAft>
                <a:spcPts val="400"/>
              </a:spcAft>
            </a:pPr>
            <a:r>
              <a:rPr sz="1400" b="0" i="0">
                <a:solidFill>
                  <a:srgbClr val="C5D2E4"/>
                </a:solidFill>
                <a:latin typeface="Calibri"/>
              </a:rPr>
              <a:t>The file is hashed in 64 KiB chunks. The bytes are not stored and are not executed.</a:t>
            </a:r>
          </a:p>
        </p:txBody>
      </p:sp>
      <p:sp>
        <p:nvSpPr>
          <p:cNvPr id="33" name="TextBox 32"/>
          <p:cNvSpPr txBox="1"/>
          <p:nvPr/>
        </p:nvSpPr>
        <p:spPr>
          <a:xfrm>
            <a:off x="347472" y="6528816"/>
            <a:ext cx="9326880" cy="237744"/>
          </a:xfrm>
          <a:prstGeom prst="rect">
            <a:avLst/>
          </a:prstGeom>
          <a:noFill/>
        </p:spPr>
        <p:txBody>
          <a:bodyPr wrap="square" anchor="t" lIns="0" rIns="0" tIns="0" bIns="0"/>
          <a:lstStyle/>
          <a:p>
            <a:pPr algn="l">
              <a:spcBef>
                <a:spcPts val="0"/>
              </a:spcBef>
              <a:spcAft>
                <a:spcPts val="200"/>
              </a:spcAft>
            </a:pPr>
            <a:r>
              <a:rPr sz="1200" b="0" i="0">
                <a:solidFill>
                  <a:srgbClr val="8EA2BB"/>
                </a:solidFill>
                <a:latin typeface="Calibri"/>
              </a:rPr>
              <a:t>CryptoGuard   ·   Architecture</a:t>
            </a:r>
          </a:p>
        </p:txBody>
      </p:sp>
      <p:sp>
        <p:nvSpPr>
          <p:cNvPr id="34" name="TextBox 33"/>
          <p:cNvSpPr txBox="1"/>
          <p:nvPr/>
        </p:nvSpPr>
        <p:spPr>
          <a:xfrm>
            <a:off x="10515600" y="6528816"/>
            <a:ext cx="1325880" cy="237744"/>
          </a:xfrm>
          <a:prstGeom prst="rect">
            <a:avLst/>
          </a:prstGeom>
          <a:noFill/>
        </p:spPr>
        <p:txBody>
          <a:bodyPr wrap="square" anchor="t" lIns="0" rIns="0" tIns="0" bIns="0"/>
          <a:lstStyle/>
          <a:p>
            <a:pPr algn="r">
              <a:spcBef>
                <a:spcPts val="0"/>
              </a:spcBef>
              <a:spcAft>
                <a:spcPts val="200"/>
              </a:spcAft>
            </a:pPr>
            <a:r>
              <a:rPr sz="1200" b="0" i="0">
                <a:solidFill>
                  <a:srgbClr val="8EA2BB"/>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37744"/>
            <a:ext cx="9144000" cy="256032"/>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SHA-256 FILE INTEGRITY</a:t>
            </a:r>
          </a:p>
        </p:txBody>
      </p:sp>
      <p:sp>
        <p:nvSpPr>
          <p:cNvPr id="4" name="TextBox 3"/>
          <p:cNvSpPr txBox="1"/>
          <p:nvPr/>
        </p:nvSpPr>
        <p:spPr>
          <a:xfrm>
            <a:off x="384048" y="475488"/>
            <a:ext cx="11338560" cy="438912"/>
          </a:xfrm>
          <a:prstGeom prst="rect">
            <a:avLst/>
          </a:prstGeom>
          <a:noFill/>
        </p:spPr>
        <p:txBody>
          <a:bodyPr wrap="square" anchor="t" lIns="0" rIns="0" tIns="0" bIns="0"/>
          <a:lstStyle/>
          <a:p>
            <a:pPr algn="l">
              <a:spcBef>
                <a:spcPts val="0"/>
              </a:spcBef>
              <a:spcAft>
                <a:spcPts val="200"/>
              </a:spcAft>
            </a:pPr>
            <a:r>
              <a:rPr sz="3000" b="1" i="0">
                <a:solidFill>
                  <a:srgbClr val="FFFFFF"/>
                </a:solidFill>
                <a:latin typeface="Calibri"/>
              </a:rPr>
              <a:t>Same bytes, or not the same bytes</a:t>
            </a:r>
          </a:p>
        </p:txBody>
      </p:sp>
      <p:sp>
        <p:nvSpPr>
          <p:cNvPr id="5" name="Rounded Rectangle 4"/>
          <p:cNvSpPr/>
          <p:nvPr/>
        </p:nvSpPr>
        <p:spPr>
          <a:xfrm>
            <a:off x="384048" y="1170432"/>
            <a:ext cx="3703320" cy="141732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280160"/>
            <a:ext cx="365760" cy="292608"/>
          </a:xfrm>
          <a:prstGeom prst="rect">
            <a:avLst/>
          </a:prstGeom>
          <a:noFill/>
        </p:spPr>
        <p:txBody>
          <a:bodyPr wrap="square" anchor="t" lIns="0" rIns="0" tIns="0" bIns="0"/>
          <a:lstStyle/>
          <a:p>
            <a:pPr algn="l">
              <a:spcBef>
                <a:spcPts val="0"/>
              </a:spcBef>
              <a:spcAft>
                <a:spcPts val="200"/>
              </a:spcAft>
            </a:pPr>
            <a:r>
              <a:rPr sz="1600" b="1" i="0">
                <a:solidFill>
                  <a:srgbClr val="4CC9F0"/>
                </a:solidFill>
                <a:latin typeface="Calibri"/>
              </a:rPr>
              <a:t>1</a:t>
            </a:r>
          </a:p>
        </p:txBody>
      </p:sp>
      <p:sp>
        <p:nvSpPr>
          <p:cNvPr id="7" name="TextBox 6"/>
          <p:cNvSpPr txBox="1"/>
          <p:nvPr/>
        </p:nvSpPr>
        <p:spPr>
          <a:xfrm>
            <a:off x="886968" y="1280160"/>
            <a:ext cx="3017520" cy="292608"/>
          </a:xfrm>
          <a:prstGeom prst="rect">
            <a:avLst/>
          </a:prstGeom>
          <a:noFill/>
        </p:spPr>
        <p:txBody>
          <a:bodyPr wrap="square" anchor="t" lIns="0" rIns="0" tIns="0" bIns="0"/>
          <a:lstStyle/>
          <a:p>
            <a:pPr algn="l">
              <a:spcBef>
                <a:spcPts val="0"/>
              </a:spcBef>
              <a:spcAft>
                <a:spcPts val="200"/>
              </a:spcAft>
            </a:pPr>
            <a:r>
              <a:rPr sz="1600" b="1" i="0">
                <a:solidFill>
                  <a:srgbClr val="FFFFFF"/>
                </a:solidFill>
                <a:latin typeface="Calibri"/>
              </a:rPr>
              <a:t>Upload</a:t>
            </a:r>
          </a:p>
        </p:txBody>
      </p:sp>
      <p:sp>
        <p:nvSpPr>
          <p:cNvPr id="8" name="TextBox 7"/>
          <p:cNvSpPr txBox="1"/>
          <p:nvPr/>
        </p:nvSpPr>
        <p:spPr>
          <a:xfrm>
            <a:off x="530352" y="1691640"/>
            <a:ext cx="3429000" cy="685800"/>
          </a:xfrm>
          <a:prstGeom prst="rect">
            <a:avLst/>
          </a:prstGeom>
          <a:noFill/>
        </p:spPr>
        <p:txBody>
          <a:bodyPr wrap="square" anchor="t" lIns="0" rIns="0" tIns="0" bIns="0"/>
          <a:lstStyle/>
          <a:p>
            <a:pPr algn="l">
              <a:spcBef>
                <a:spcPts val="0"/>
              </a:spcBef>
              <a:spcAft>
                <a:spcPts val="200"/>
              </a:spcAft>
            </a:pPr>
            <a:r>
              <a:rPr sz="1300" b="0" i="0">
                <a:solidFill>
                  <a:srgbClr val="C5D2E4"/>
                </a:solidFill>
                <a:latin typeface="Calibri"/>
              </a:rPr>
              <a:t>The browser sends the file. The server hashes 64 KiB chunks.</a:t>
            </a:r>
          </a:p>
        </p:txBody>
      </p:sp>
      <p:sp>
        <p:nvSpPr>
          <p:cNvPr id="9" name="Rounded Rectangle 8"/>
          <p:cNvSpPr/>
          <p:nvPr/>
        </p:nvSpPr>
        <p:spPr>
          <a:xfrm>
            <a:off x="4270248" y="1170432"/>
            <a:ext cx="3703320" cy="141732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16552" y="1280160"/>
            <a:ext cx="365760" cy="292608"/>
          </a:xfrm>
          <a:prstGeom prst="rect">
            <a:avLst/>
          </a:prstGeom>
          <a:noFill/>
        </p:spPr>
        <p:txBody>
          <a:bodyPr wrap="square" anchor="t" lIns="0" rIns="0" tIns="0" bIns="0"/>
          <a:lstStyle/>
          <a:p>
            <a:pPr algn="l">
              <a:spcBef>
                <a:spcPts val="0"/>
              </a:spcBef>
              <a:spcAft>
                <a:spcPts val="200"/>
              </a:spcAft>
            </a:pPr>
            <a:r>
              <a:rPr sz="1600" b="1" i="0">
                <a:solidFill>
                  <a:srgbClr val="4CC9F0"/>
                </a:solidFill>
                <a:latin typeface="Calibri"/>
              </a:rPr>
              <a:t>2</a:t>
            </a:r>
          </a:p>
        </p:txBody>
      </p:sp>
      <p:sp>
        <p:nvSpPr>
          <p:cNvPr id="11" name="TextBox 10"/>
          <p:cNvSpPr txBox="1"/>
          <p:nvPr/>
        </p:nvSpPr>
        <p:spPr>
          <a:xfrm>
            <a:off x="4773168" y="1280160"/>
            <a:ext cx="3017520" cy="292608"/>
          </a:xfrm>
          <a:prstGeom prst="rect">
            <a:avLst/>
          </a:prstGeom>
          <a:noFill/>
        </p:spPr>
        <p:txBody>
          <a:bodyPr wrap="square" anchor="t" lIns="0" rIns="0" tIns="0" bIns="0"/>
          <a:lstStyle/>
          <a:p>
            <a:pPr algn="l">
              <a:spcBef>
                <a:spcPts val="0"/>
              </a:spcBef>
              <a:spcAft>
                <a:spcPts val="200"/>
              </a:spcAft>
            </a:pPr>
            <a:r>
              <a:rPr sz="1600" b="1" i="0">
                <a:solidFill>
                  <a:srgbClr val="FFFFFF"/>
                </a:solidFill>
                <a:latin typeface="Calibri"/>
              </a:rPr>
              <a:t>Digest</a:t>
            </a:r>
          </a:p>
        </p:txBody>
      </p:sp>
      <p:sp>
        <p:nvSpPr>
          <p:cNvPr id="12" name="TextBox 11"/>
          <p:cNvSpPr txBox="1"/>
          <p:nvPr/>
        </p:nvSpPr>
        <p:spPr>
          <a:xfrm>
            <a:off x="4416552" y="1691640"/>
            <a:ext cx="3429000" cy="685800"/>
          </a:xfrm>
          <a:prstGeom prst="rect">
            <a:avLst/>
          </a:prstGeom>
          <a:noFill/>
        </p:spPr>
        <p:txBody>
          <a:bodyPr wrap="square" anchor="t" lIns="0" rIns="0" tIns="0" bIns="0"/>
          <a:lstStyle/>
          <a:p>
            <a:pPr algn="l">
              <a:spcBef>
                <a:spcPts val="0"/>
              </a:spcBef>
              <a:spcAft>
                <a:spcPts val="200"/>
              </a:spcAft>
            </a:pPr>
            <a:r>
              <a:rPr sz="1300" b="0" i="0">
                <a:solidFill>
                  <a:srgbClr val="C5D2E4"/>
                </a:solidFill>
                <a:latin typeface="Calibri"/>
              </a:rPr>
              <a:t>hashlib.sha256 returns 64 hexadecimal characters.</a:t>
            </a:r>
          </a:p>
        </p:txBody>
      </p:sp>
      <p:sp>
        <p:nvSpPr>
          <p:cNvPr id="13" name="Rounded Rectangle 12"/>
          <p:cNvSpPr/>
          <p:nvPr/>
        </p:nvSpPr>
        <p:spPr>
          <a:xfrm>
            <a:off x="8156448" y="1170432"/>
            <a:ext cx="3703320" cy="141732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280160"/>
            <a:ext cx="365760" cy="292608"/>
          </a:xfrm>
          <a:prstGeom prst="rect">
            <a:avLst/>
          </a:prstGeom>
          <a:noFill/>
        </p:spPr>
        <p:txBody>
          <a:bodyPr wrap="square" anchor="t" lIns="0" rIns="0" tIns="0" bIns="0"/>
          <a:lstStyle/>
          <a:p>
            <a:pPr algn="l">
              <a:spcBef>
                <a:spcPts val="0"/>
              </a:spcBef>
              <a:spcAft>
                <a:spcPts val="200"/>
              </a:spcAft>
            </a:pPr>
            <a:r>
              <a:rPr sz="1600" b="1" i="0">
                <a:solidFill>
                  <a:srgbClr val="4CC9F0"/>
                </a:solidFill>
                <a:latin typeface="Calibri"/>
              </a:rPr>
              <a:t>3</a:t>
            </a:r>
          </a:p>
        </p:txBody>
      </p:sp>
      <p:sp>
        <p:nvSpPr>
          <p:cNvPr id="15" name="TextBox 14"/>
          <p:cNvSpPr txBox="1"/>
          <p:nvPr/>
        </p:nvSpPr>
        <p:spPr>
          <a:xfrm>
            <a:off x="8659368" y="1280160"/>
            <a:ext cx="3017520" cy="292608"/>
          </a:xfrm>
          <a:prstGeom prst="rect">
            <a:avLst/>
          </a:prstGeom>
          <a:noFill/>
        </p:spPr>
        <p:txBody>
          <a:bodyPr wrap="square" anchor="t" lIns="0" rIns="0" tIns="0" bIns="0"/>
          <a:lstStyle/>
          <a:p>
            <a:pPr algn="l">
              <a:spcBef>
                <a:spcPts val="0"/>
              </a:spcBef>
              <a:spcAft>
                <a:spcPts val="200"/>
              </a:spcAft>
            </a:pPr>
            <a:r>
              <a:rPr sz="1600" b="1" i="0">
                <a:solidFill>
                  <a:srgbClr val="FFFFFF"/>
                </a:solidFill>
                <a:latin typeface="Calibri"/>
              </a:rPr>
              <a:t>Compare</a:t>
            </a:r>
          </a:p>
        </p:txBody>
      </p:sp>
      <p:sp>
        <p:nvSpPr>
          <p:cNvPr id="16" name="TextBox 15"/>
          <p:cNvSpPr txBox="1"/>
          <p:nvPr/>
        </p:nvSpPr>
        <p:spPr>
          <a:xfrm>
            <a:off x="8302752" y="1691640"/>
            <a:ext cx="3429000" cy="685800"/>
          </a:xfrm>
          <a:prstGeom prst="rect">
            <a:avLst/>
          </a:prstGeom>
          <a:noFill/>
        </p:spPr>
        <p:txBody>
          <a:bodyPr wrap="square" anchor="t" lIns="0" rIns="0" tIns="0" bIns="0"/>
          <a:lstStyle/>
          <a:p>
            <a:pPr algn="l">
              <a:spcBef>
                <a:spcPts val="0"/>
              </a:spcBef>
              <a:spcAft>
                <a:spcPts val="200"/>
              </a:spcAft>
            </a:pPr>
            <a:r>
              <a:rPr sz="1300" b="0" i="0">
                <a:solidFill>
                  <a:srgbClr val="C5D2E4"/>
                </a:solidFill>
                <a:latin typeface="Calibri"/>
              </a:rPr>
              <a:t>hmac.compare_digest checks the supplied reference.</a:t>
            </a:r>
          </a:p>
        </p:txBody>
      </p:sp>
      <p:sp>
        <p:nvSpPr>
          <p:cNvPr id="17" name="Rounded Rectangle 16"/>
          <p:cNvSpPr/>
          <p:nvPr/>
        </p:nvSpPr>
        <p:spPr>
          <a:xfrm>
            <a:off x="384048" y="2788920"/>
            <a:ext cx="3703320" cy="155448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926080"/>
            <a:ext cx="3383280" cy="329184"/>
          </a:xfrm>
          <a:prstGeom prst="rect">
            <a:avLst/>
          </a:prstGeom>
          <a:noFill/>
        </p:spPr>
        <p:txBody>
          <a:bodyPr wrap="square" anchor="t" lIns="0" rIns="0" tIns="0" bIns="0"/>
          <a:lstStyle/>
          <a:p>
            <a:pPr algn="l">
              <a:spcBef>
                <a:spcPts val="0"/>
              </a:spcBef>
              <a:spcAft>
                <a:spcPts val="200"/>
              </a:spcAft>
            </a:pPr>
            <a:r>
              <a:rPr sz="1800" b="1" i="0">
                <a:solidFill>
                  <a:srgbClr val="8EA2BB"/>
                </a:solidFill>
                <a:latin typeface="Calibri"/>
              </a:rPr>
              <a:t>NOT VERIFIED</a:t>
            </a:r>
          </a:p>
        </p:txBody>
      </p:sp>
      <p:sp>
        <p:nvSpPr>
          <p:cNvPr id="19" name="TextBox 18"/>
          <p:cNvSpPr txBox="1"/>
          <p:nvPr/>
        </p:nvSpPr>
        <p:spPr>
          <a:xfrm>
            <a:off x="548640" y="3364992"/>
            <a:ext cx="3383280" cy="777240"/>
          </a:xfrm>
          <a:prstGeom prst="rect">
            <a:avLst/>
          </a:prstGeom>
          <a:noFill/>
        </p:spPr>
        <p:txBody>
          <a:bodyPr wrap="square" anchor="t" lIns="0" rIns="0" tIns="0" bIns="0"/>
          <a:lstStyle/>
          <a:p>
            <a:pPr algn="l">
              <a:spcBef>
                <a:spcPts val="0"/>
              </a:spcBef>
              <a:spcAft>
                <a:spcPts val="200"/>
              </a:spcAft>
            </a:pPr>
            <a:r>
              <a:rPr sz="1400" b="0" i="0">
                <a:solidFill>
                  <a:srgbClr val="C5D2E4"/>
                </a:solidFill>
                <a:latin typeface="Calibri"/>
              </a:rPr>
              <a:t>Digest only. No reference was compared.</a:t>
            </a:r>
          </a:p>
        </p:txBody>
      </p:sp>
      <p:sp>
        <p:nvSpPr>
          <p:cNvPr id="20" name="Rounded Rectangle 19"/>
          <p:cNvSpPr/>
          <p:nvPr/>
        </p:nvSpPr>
        <p:spPr>
          <a:xfrm>
            <a:off x="4270248" y="2788920"/>
            <a:ext cx="3703320" cy="155448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2926080"/>
            <a:ext cx="3383280" cy="329184"/>
          </a:xfrm>
          <a:prstGeom prst="rect">
            <a:avLst/>
          </a:prstGeom>
          <a:noFill/>
        </p:spPr>
        <p:txBody>
          <a:bodyPr wrap="square" anchor="t" lIns="0" rIns="0" tIns="0" bIns="0"/>
          <a:lstStyle/>
          <a:p>
            <a:pPr algn="l">
              <a:spcBef>
                <a:spcPts val="0"/>
              </a:spcBef>
              <a:spcAft>
                <a:spcPts val="200"/>
              </a:spcAft>
            </a:pPr>
            <a:r>
              <a:rPr sz="1800" b="1" i="0">
                <a:solidFill>
                  <a:srgbClr val="3DDC97"/>
                </a:solidFill>
                <a:latin typeface="Calibri"/>
              </a:rPr>
              <a:t>PASS</a:t>
            </a:r>
          </a:p>
        </p:txBody>
      </p:sp>
      <p:sp>
        <p:nvSpPr>
          <p:cNvPr id="22" name="TextBox 21"/>
          <p:cNvSpPr txBox="1"/>
          <p:nvPr/>
        </p:nvSpPr>
        <p:spPr>
          <a:xfrm>
            <a:off x="4434840" y="3364992"/>
            <a:ext cx="3383280" cy="777240"/>
          </a:xfrm>
          <a:prstGeom prst="rect">
            <a:avLst/>
          </a:prstGeom>
          <a:noFill/>
        </p:spPr>
        <p:txBody>
          <a:bodyPr wrap="square" anchor="t" lIns="0" rIns="0" tIns="0" bIns="0"/>
          <a:lstStyle/>
          <a:p>
            <a:pPr algn="l">
              <a:spcBef>
                <a:spcPts val="0"/>
              </a:spcBef>
              <a:spcAft>
                <a:spcPts val="200"/>
              </a:spcAft>
            </a:pPr>
            <a:r>
              <a:rPr sz="1400" b="0" i="0">
                <a:solidFill>
                  <a:srgbClr val="C5D2E4"/>
                </a:solidFill>
                <a:latin typeface="Calibri"/>
              </a:rPr>
              <a:t>API verdict MATCH. The bytes equal the reference.</a:t>
            </a:r>
          </a:p>
        </p:txBody>
      </p:sp>
      <p:sp>
        <p:nvSpPr>
          <p:cNvPr id="23" name="Rounded Rectangle 22"/>
          <p:cNvSpPr/>
          <p:nvPr/>
        </p:nvSpPr>
        <p:spPr>
          <a:xfrm>
            <a:off x="8156448" y="2788920"/>
            <a:ext cx="3703320" cy="155448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2926080"/>
            <a:ext cx="3383280" cy="329184"/>
          </a:xfrm>
          <a:prstGeom prst="rect">
            <a:avLst/>
          </a:prstGeom>
          <a:noFill/>
        </p:spPr>
        <p:txBody>
          <a:bodyPr wrap="square" anchor="t" lIns="0" rIns="0" tIns="0" bIns="0"/>
          <a:lstStyle/>
          <a:p>
            <a:pPr algn="l">
              <a:spcBef>
                <a:spcPts val="0"/>
              </a:spcBef>
              <a:spcAft>
                <a:spcPts val="200"/>
              </a:spcAft>
            </a:pPr>
            <a:r>
              <a:rPr sz="1800" b="1" i="0">
                <a:solidFill>
                  <a:srgbClr val="FF7B86"/>
                </a:solidFill>
                <a:latin typeface="Calibri"/>
              </a:rPr>
              <a:t>FAIL</a:t>
            </a:r>
          </a:p>
        </p:txBody>
      </p:sp>
      <p:sp>
        <p:nvSpPr>
          <p:cNvPr id="25" name="TextBox 24"/>
          <p:cNvSpPr txBox="1"/>
          <p:nvPr/>
        </p:nvSpPr>
        <p:spPr>
          <a:xfrm>
            <a:off x="8321040" y="3364992"/>
            <a:ext cx="3383280" cy="777240"/>
          </a:xfrm>
          <a:prstGeom prst="rect">
            <a:avLst/>
          </a:prstGeom>
          <a:noFill/>
        </p:spPr>
        <p:txBody>
          <a:bodyPr wrap="square" anchor="t" lIns="0" rIns="0" tIns="0" bIns="0"/>
          <a:lstStyle/>
          <a:p>
            <a:pPr algn="l">
              <a:spcBef>
                <a:spcPts val="0"/>
              </a:spcBef>
              <a:spcAft>
                <a:spcPts val="200"/>
              </a:spcAft>
            </a:pPr>
            <a:r>
              <a:rPr sz="1400" b="0" i="0">
                <a:solidFill>
                  <a:srgbClr val="C5D2E4"/>
                </a:solidFill>
                <a:latin typeface="Calibri"/>
              </a:rPr>
              <a:t>API verdict MISMATCH. The bytes differ.</a:t>
            </a:r>
          </a:p>
        </p:txBody>
      </p:sp>
      <p:sp>
        <p:nvSpPr>
          <p:cNvPr id="26" name="Rounded Rectangle 25"/>
          <p:cNvSpPr/>
          <p:nvPr/>
        </p:nvSpPr>
        <p:spPr>
          <a:xfrm>
            <a:off x="384048" y="4526280"/>
            <a:ext cx="11430000" cy="1737360"/>
          </a:xfrm>
          <a:prstGeom prst="roundRect">
            <a:avLst>
              <a:gd name="adj" fmla="val 8000"/>
            </a:avLst>
          </a:prstGeom>
          <a:solidFill>
            <a:srgbClr val="1A2840"/>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5216" y="4681728"/>
            <a:ext cx="11064240" cy="256032"/>
          </a:xfrm>
          <a:prstGeom prst="rect">
            <a:avLst/>
          </a:prstGeom>
          <a:noFill/>
        </p:spPr>
        <p:txBody>
          <a:bodyPr wrap="square" anchor="t" lIns="0" rIns="0" tIns="0" bIns="0"/>
          <a:lstStyle/>
          <a:p>
            <a:pPr algn="l">
              <a:spcBef>
                <a:spcPts val="0"/>
              </a:spcBef>
              <a:spcAft>
                <a:spcPts val="200"/>
              </a:spcAft>
            </a:pPr>
            <a:r>
              <a:rPr sz="1200" b="1" i="0">
                <a:solidFill>
                  <a:srgbClr val="F5C16C"/>
                </a:solidFill>
                <a:latin typeface="Calibri"/>
              </a:rPr>
              <a:t>WHAT A MATCH DOES NOT ESTABLISH</a:t>
            </a:r>
          </a:p>
        </p:txBody>
      </p:sp>
      <p:sp>
        <p:nvSpPr>
          <p:cNvPr id="28" name="TextBox 27"/>
          <p:cNvSpPr txBox="1"/>
          <p:nvPr/>
        </p:nvSpPr>
        <p:spPr>
          <a:xfrm>
            <a:off x="585216" y="5029200"/>
            <a:ext cx="11018520" cy="1005840"/>
          </a:xfrm>
          <a:prstGeom prst="rect">
            <a:avLst/>
          </a:prstGeom>
          <a:noFill/>
        </p:spPr>
        <p:txBody>
          <a:bodyPr wrap="square" anchor="t" lIns="0" rIns="0" tIns="0" bIns="0"/>
          <a:lstStyle/>
          <a:p>
            <a:pPr algn="l">
              <a:spcBef>
                <a:spcPts val="0"/>
              </a:spcBef>
              <a:spcAft>
                <a:spcPts val="400"/>
              </a:spcAft>
            </a:pPr>
            <a:r>
              <a:rPr sz="1400" b="0" i="0">
                <a:solidFill>
                  <a:srgbClr val="C5D2E4"/>
                </a:solidFill>
                <a:latin typeface="Calibri"/>
              </a:rPr>
              <a:t>It does not name the publisher. It does not prove the reference itself was honest. It does not prove the file is free of malware or vulnerabilities.</a:t>
            </a:r>
          </a:p>
          <a:p>
            <a:pPr algn="l">
              <a:spcBef>
                <a:spcPts val="0"/>
              </a:spcBef>
              <a:spcAft>
                <a:spcPts val="400"/>
              </a:spcAft>
            </a:pPr>
            <a:r>
              <a:rPr sz="1400" b="0" i="0">
                <a:solidFill>
                  <a:srgbClr val="C5D2E4"/>
                </a:solidFill>
                <a:latin typeface="Calibri"/>
              </a:rPr>
              <a:t>An empty file has the standard SHA-256 digest e3b0c44298fc1c149afbf4c8996fb92427ae41e4649b934ca495991b7852b855. The test suite checks that value.</a:t>
            </a:r>
          </a:p>
        </p:txBody>
      </p:sp>
      <p:sp>
        <p:nvSpPr>
          <p:cNvPr id="29" name="TextBox 28"/>
          <p:cNvSpPr txBox="1"/>
          <p:nvPr/>
        </p:nvSpPr>
        <p:spPr>
          <a:xfrm>
            <a:off x="347472" y="6528816"/>
            <a:ext cx="9326880" cy="237744"/>
          </a:xfrm>
          <a:prstGeom prst="rect">
            <a:avLst/>
          </a:prstGeom>
          <a:noFill/>
        </p:spPr>
        <p:txBody>
          <a:bodyPr wrap="square" anchor="t" lIns="0" rIns="0" tIns="0" bIns="0"/>
          <a:lstStyle/>
          <a:p>
            <a:pPr algn="l">
              <a:spcBef>
                <a:spcPts val="0"/>
              </a:spcBef>
              <a:spcAft>
                <a:spcPts val="200"/>
              </a:spcAft>
            </a:pPr>
            <a:r>
              <a:rPr sz="1200" b="0" i="0">
                <a:solidFill>
                  <a:srgbClr val="8EA2BB"/>
                </a:solidFill>
                <a:latin typeface="Calibri"/>
              </a:rPr>
              <a:t>CryptoGuard   ·   SHA-256</a:t>
            </a:r>
          </a:p>
        </p:txBody>
      </p:sp>
      <p:sp>
        <p:nvSpPr>
          <p:cNvPr id="30" name="TextBox 29"/>
          <p:cNvSpPr txBox="1"/>
          <p:nvPr/>
        </p:nvSpPr>
        <p:spPr>
          <a:xfrm>
            <a:off x="10515600" y="6528816"/>
            <a:ext cx="1325880" cy="237744"/>
          </a:xfrm>
          <a:prstGeom prst="rect">
            <a:avLst/>
          </a:prstGeom>
          <a:noFill/>
        </p:spPr>
        <p:txBody>
          <a:bodyPr wrap="square" anchor="t" lIns="0" rIns="0" tIns="0" bIns="0"/>
          <a:lstStyle/>
          <a:p>
            <a:pPr algn="r">
              <a:spcBef>
                <a:spcPts val="0"/>
              </a:spcBef>
              <a:spcAft>
                <a:spcPts val="200"/>
              </a:spcAft>
            </a:pPr>
            <a:r>
              <a:rPr sz="1200" b="0" i="0">
                <a:solidFill>
                  <a:srgbClr val="8EA2BB"/>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37744"/>
            <a:ext cx="9144000" cy="256032"/>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HMAC-SHA256 AUTHENTICATION</a:t>
            </a:r>
          </a:p>
        </p:txBody>
      </p:sp>
      <p:sp>
        <p:nvSpPr>
          <p:cNvPr id="4" name="TextBox 3"/>
          <p:cNvSpPr txBox="1"/>
          <p:nvPr/>
        </p:nvSpPr>
        <p:spPr>
          <a:xfrm>
            <a:off x="384048" y="475488"/>
            <a:ext cx="11338560" cy="438912"/>
          </a:xfrm>
          <a:prstGeom prst="rect">
            <a:avLst/>
          </a:prstGeom>
          <a:noFill/>
        </p:spPr>
        <p:txBody>
          <a:bodyPr wrap="square" anchor="t" lIns="0" rIns="0" tIns="0" bIns="0"/>
          <a:lstStyle/>
          <a:p>
            <a:pPr algn="l">
              <a:spcBef>
                <a:spcPts val="0"/>
              </a:spcBef>
              <a:spcAft>
                <a:spcPts val="200"/>
              </a:spcAft>
            </a:pPr>
            <a:r>
              <a:rPr sz="3000" b="1" i="0">
                <a:solidFill>
                  <a:srgbClr val="FFFFFF"/>
                </a:solidFill>
                <a:latin typeface="Calibri"/>
              </a:rPr>
              <a:t>A shared secret, not a public identity</a:t>
            </a:r>
          </a:p>
        </p:txBody>
      </p:sp>
      <p:sp>
        <p:nvSpPr>
          <p:cNvPr id="5" name="Rounded Rectangle 4"/>
          <p:cNvSpPr/>
          <p:nvPr/>
        </p:nvSpPr>
        <p:spPr>
          <a:xfrm>
            <a:off x="384048" y="1170432"/>
            <a:ext cx="3657600" cy="502920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1335024"/>
            <a:ext cx="3291840" cy="237744"/>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MODEL</a:t>
            </a:r>
          </a:p>
        </p:txBody>
      </p:sp>
      <p:sp>
        <p:nvSpPr>
          <p:cNvPr id="7" name="TextBox 6"/>
          <p:cNvSpPr txBox="1"/>
          <p:nvPr/>
        </p:nvSpPr>
        <p:spPr>
          <a:xfrm>
            <a:off x="585216" y="1737360"/>
            <a:ext cx="3246120" cy="4114800"/>
          </a:xfrm>
          <a:prstGeom prst="rect">
            <a:avLst/>
          </a:prstGeom>
          <a:noFill/>
        </p:spPr>
        <p:txBody>
          <a:bodyPr wrap="square" anchor="t" lIns="0" rIns="0" tIns="0" bIns="0"/>
          <a:lstStyle/>
          <a:p>
            <a:pPr algn="l">
              <a:spcBef>
                <a:spcPts val="0"/>
              </a:spcBef>
              <a:spcAft>
                <a:spcPts val="200"/>
              </a:spcAft>
            </a:pPr>
            <a:r>
              <a:rPr sz="1500" b="0" i="0">
                <a:solidFill>
                  <a:srgbClr val="C5D2E4"/>
                </a:solidFill>
                <a:latin typeface="Calibri"/>
              </a:rPr>
              <a:t>Both parties already share a secret.</a:t>
            </a:r>
          </a:p>
          <a:p>
            <a:pPr algn="l">
              <a:spcBef>
                <a:spcPts val="0"/>
              </a:spcBef>
              <a:spcAft>
                <a:spcPts val="200"/>
              </a:spcAft>
            </a:pPr>
            <a:r>
              <a:rPr sz="1500" b="0" i="0">
                <a:solidFill>
                  <a:srgbClr val="C5D2E4"/>
                </a:solidFill>
                <a:latin typeface="Calibri"/>
              </a:rPr>
              <a:t/>
            </a:r>
          </a:p>
          <a:p>
            <a:pPr algn="l">
              <a:spcBef>
                <a:spcPts val="0"/>
              </a:spcBef>
              <a:spcAft>
                <a:spcPts val="200"/>
              </a:spcAft>
            </a:pPr>
            <a:r>
              <a:rPr sz="1500" b="0" i="0">
                <a:solidFill>
                  <a:srgbClr val="C5D2E4"/>
                </a:solidFill>
                <a:latin typeface="Calibri"/>
              </a:rPr>
              <a:t>Tag = HMAC-SHA256</a:t>
            </a:r>
          </a:p>
          <a:p>
            <a:pPr algn="l">
              <a:spcBef>
                <a:spcPts val="0"/>
              </a:spcBef>
              <a:spcAft>
                <a:spcPts val="200"/>
              </a:spcAft>
            </a:pPr>
            <a:r>
              <a:rPr sz="1500" b="0" i="0">
                <a:solidFill>
                  <a:srgbClr val="C5D2E4"/>
                </a:solidFill>
                <a:latin typeface="Calibri"/>
              </a:rPr>
              <a:t>(secret, message).</a:t>
            </a:r>
          </a:p>
          <a:p>
            <a:pPr algn="l">
              <a:spcBef>
                <a:spcPts val="0"/>
              </a:spcBef>
              <a:spcAft>
                <a:spcPts val="200"/>
              </a:spcAft>
            </a:pPr>
            <a:r>
              <a:rPr sz="1500" b="0" i="0">
                <a:solidFill>
                  <a:srgbClr val="C5D2E4"/>
                </a:solidFill>
                <a:latin typeface="Calibri"/>
              </a:rPr>
              <a:t/>
            </a:r>
          </a:p>
          <a:p>
            <a:pPr algn="l">
              <a:spcBef>
                <a:spcPts val="0"/>
              </a:spcBef>
              <a:spcAft>
                <a:spcPts val="200"/>
              </a:spcAft>
            </a:pPr>
            <a:r>
              <a:rPr sz="1500" b="0" i="0">
                <a:solidFill>
                  <a:srgbClr val="C5D2E4"/>
                </a:solidFill>
                <a:latin typeface="Calibri"/>
              </a:rPr>
              <a:t>CryptoGuard does not distribute the secret and does not write it to SQLite.</a:t>
            </a:r>
          </a:p>
          <a:p>
            <a:pPr algn="l">
              <a:spcBef>
                <a:spcPts val="0"/>
              </a:spcBef>
              <a:spcAft>
                <a:spcPts val="200"/>
              </a:spcAft>
            </a:pPr>
            <a:r>
              <a:rPr sz="1500" b="0" i="0">
                <a:solidFill>
                  <a:srgbClr val="C5D2E4"/>
                </a:solidFill>
                <a:latin typeface="Calibri"/>
              </a:rPr>
              <a:t/>
            </a:r>
          </a:p>
          <a:p>
            <a:pPr algn="l">
              <a:spcBef>
                <a:spcPts val="0"/>
              </a:spcBef>
              <a:spcAft>
                <a:spcPts val="200"/>
              </a:spcAft>
            </a:pPr>
            <a:r>
              <a:rPr sz="1500" b="0" i="0">
                <a:solidFill>
                  <a:srgbClr val="C5D2E4"/>
                </a:solidFill>
                <a:latin typeface="Calibri"/>
              </a:rPr>
              <a:t>A wrong message, secret, or tag is simply INVALID.</a:t>
            </a:r>
          </a:p>
        </p:txBody>
      </p:sp>
      <p:sp>
        <p:nvSpPr>
          <p:cNvPr id="8" name="Rounded Rectangle 7"/>
          <p:cNvSpPr/>
          <p:nvPr/>
        </p:nvSpPr>
        <p:spPr>
          <a:xfrm>
            <a:off x="4251960" y="1170432"/>
            <a:ext cx="7543800" cy="155448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62272" y="1371600"/>
            <a:ext cx="2011680" cy="365760"/>
          </a:xfrm>
          <a:prstGeom prst="rect">
            <a:avLst/>
          </a:prstGeom>
          <a:noFill/>
        </p:spPr>
        <p:txBody>
          <a:bodyPr wrap="square" anchor="t" lIns="0" rIns="0" tIns="0" bIns="0"/>
          <a:lstStyle/>
          <a:p>
            <a:pPr algn="l">
              <a:spcBef>
                <a:spcPts val="0"/>
              </a:spcBef>
              <a:spcAft>
                <a:spcPts val="200"/>
              </a:spcAft>
            </a:pPr>
            <a:r>
              <a:rPr sz="2000" b="1" i="0">
                <a:solidFill>
                  <a:srgbClr val="3DDC97"/>
                </a:solidFill>
                <a:latin typeface="Calibri"/>
              </a:rPr>
              <a:t>PASS</a:t>
            </a:r>
          </a:p>
        </p:txBody>
      </p:sp>
      <p:sp>
        <p:nvSpPr>
          <p:cNvPr id="10" name="TextBox 9"/>
          <p:cNvSpPr txBox="1"/>
          <p:nvPr/>
        </p:nvSpPr>
        <p:spPr>
          <a:xfrm>
            <a:off x="6537960" y="1426464"/>
            <a:ext cx="5029200" cy="1051560"/>
          </a:xfrm>
          <a:prstGeom prst="rect">
            <a:avLst/>
          </a:prstGeom>
          <a:noFill/>
        </p:spPr>
        <p:txBody>
          <a:bodyPr wrap="square" anchor="t" lIns="0" rIns="0" tIns="0" bIns="0"/>
          <a:lstStyle/>
          <a:p>
            <a:pPr algn="l">
              <a:spcBef>
                <a:spcPts val="0"/>
              </a:spcBef>
              <a:spcAft>
                <a:spcPts val="200"/>
              </a:spcAft>
            </a:pPr>
            <a:r>
              <a:rPr sz="1600" b="0" i="0">
                <a:solidFill>
                  <a:srgbClr val="C5D2E4"/>
                </a:solidFill>
                <a:latin typeface="Calibri"/>
              </a:rPr>
              <a:t>Same message, secret, and tag. Stored verdict: VALID.</a:t>
            </a:r>
          </a:p>
        </p:txBody>
      </p:sp>
      <p:sp>
        <p:nvSpPr>
          <p:cNvPr id="11" name="Rounded Rectangle 10"/>
          <p:cNvSpPr/>
          <p:nvPr/>
        </p:nvSpPr>
        <p:spPr>
          <a:xfrm>
            <a:off x="4251960" y="2862072"/>
            <a:ext cx="7543800" cy="155448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3063240"/>
            <a:ext cx="2011680" cy="365760"/>
          </a:xfrm>
          <a:prstGeom prst="rect">
            <a:avLst/>
          </a:prstGeom>
          <a:noFill/>
        </p:spPr>
        <p:txBody>
          <a:bodyPr wrap="square" anchor="t" lIns="0" rIns="0" tIns="0" bIns="0"/>
          <a:lstStyle/>
          <a:p>
            <a:pPr algn="l">
              <a:spcBef>
                <a:spcPts val="0"/>
              </a:spcBef>
              <a:spcAft>
                <a:spcPts val="200"/>
              </a:spcAft>
            </a:pPr>
            <a:r>
              <a:rPr sz="2000" b="1" i="0">
                <a:solidFill>
                  <a:srgbClr val="FF7B86"/>
                </a:solidFill>
                <a:latin typeface="Calibri"/>
              </a:rPr>
              <a:t>FAIL</a:t>
            </a:r>
          </a:p>
        </p:txBody>
      </p:sp>
      <p:sp>
        <p:nvSpPr>
          <p:cNvPr id="13" name="TextBox 12"/>
          <p:cNvSpPr txBox="1"/>
          <p:nvPr/>
        </p:nvSpPr>
        <p:spPr>
          <a:xfrm>
            <a:off x="6537960" y="3118104"/>
            <a:ext cx="5029200" cy="1051560"/>
          </a:xfrm>
          <a:prstGeom prst="rect">
            <a:avLst/>
          </a:prstGeom>
          <a:noFill/>
        </p:spPr>
        <p:txBody>
          <a:bodyPr wrap="square" anchor="t" lIns="0" rIns="0" tIns="0" bIns="0"/>
          <a:lstStyle/>
          <a:p>
            <a:pPr algn="l">
              <a:spcBef>
                <a:spcPts val="0"/>
              </a:spcBef>
              <a:spcAft>
                <a:spcPts val="200"/>
              </a:spcAft>
            </a:pPr>
            <a:r>
              <a:rPr sz="1600" b="0" i="0">
                <a:solidFill>
                  <a:srgbClr val="C5D2E4"/>
                </a:solidFill>
                <a:latin typeface="Calibri"/>
              </a:rPr>
              <a:t>Change the message. Same secret and tag. Stored verdict: INVALID.</a:t>
            </a:r>
          </a:p>
        </p:txBody>
      </p:sp>
      <p:sp>
        <p:nvSpPr>
          <p:cNvPr id="14" name="Rounded Rectangle 13"/>
          <p:cNvSpPr/>
          <p:nvPr/>
        </p:nvSpPr>
        <p:spPr>
          <a:xfrm>
            <a:off x="4251960" y="4553712"/>
            <a:ext cx="7543800" cy="155448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4754880"/>
            <a:ext cx="2011680" cy="365760"/>
          </a:xfrm>
          <a:prstGeom prst="rect">
            <a:avLst/>
          </a:prstGeom>
          <a:noFill/>
        </p:spPr>
        <p:txBody>
          <a:bodyPr wrap="square" anchor="t" lIns="0" rIns="0" tIns="0" bIns="0"/>
          <a:lstStyle/>
          <a:p>
            <a:pPr algn="l">
              <a:spcBef>
                <a:spcPts val="0"/>
              </a:spcBef>
              <a:spcAft>
                <a:spcPts val="200"/>
              </a:spcAft>
            </a:pPr>
            <a:r>
              <a:rPr sz="2000" b="1" i="0">
                <a:solidFill>
                  <a:srgbClr val="F5C16C"/>
                </a:solidFill>
                <a:latin typeface="Calibri"/>
              </a:rPr>
              <a:t>LIMIT</a:t>
            </a:r>
          </a:p>
        </p:txBody>
      </p:sp>
      <p:sp>
        <p:nvSpPr>
          <p:cNvPr id="16" name="TextBox 15"/>
          <p:cNvSpPr txBox="1"/>
          <p:nvPr/>
        </p:nvSpPr>
        <p:spPr>
          <a:xfrm>
            <a:off x="6537960" y="4809744"/>
            <a:ext cx="5029200" cy="1051560"/>
          </a:xfrm>
          <a:prstGeom prst="rect">
            <a:avLst/>
          </a:prstGeom>
          <a:noFill/>
        </p:spPr>
        <p:txBody>
          <a:bodyPr wrap="square" anchor="t" lIns="0" rIns="0" tIns="0" bIns="0"/>
          <a:lstStyle/>
          <a:p>
            <a:pPr algn="l">
              <a:spcBef>
                <a:spcPts val="0"/>
              </a:spcBef>
              <a:spcAft>
                <a:spcPts val="200"/>
              </a:spcAft>
            </a:pPr>
            <a:r>
              <a:rPr sz="1600" b="0" i="0">
                <a:solidFill>
                  <a:srgbClr val="C5D2E4"/>
                </a:solidFill>
                <a:latin typeface="Calibri"/>
              </a:rPr>
              <a:t>No public identity. No non-repudiation. The secret must stay secret.</a:t>
            </a:r>
          </a:p>
        </p:txBody>
      </p:sp>
      <p:sp>
        <p:nvSpPr>
          <p:cNvPr id="17" name="TextBox 16"/>
          <p:cNvSpPr txBox="1"/>
          <p:nvPr/>
        </p:nvSpPr>
        <p:spPr>
          <a:xfrm>
            <a:off x="347472" y="6528816"/>
            <a:ext cx="9326880" cy="237744"/>
          </a:xfrm>
          <a:prstGeom prst="rect">
            <a:avLst/>
          </a:prstGeom>
          <a:noFill/>
        </p:spPr>
        <p:txBody>
          <a:bodyPr wrap="square" anchor="t" lIns="0" rIns="0" tIns="0" bIns="0"/>
          <a:lstStyle/>
          <a:p>
            <a:pPr algn="l">
              <a:spcBef>
                <a:spcPts val="0"/>
              </a:spcBef>
              <a:spcAft>
                <a:spcPts val="200"/>
              </a:spcAft>
            </a:pPr>
            <a:r>
              <a:rPr sz="1200" b="0" i="0">
                <a:solidFill>
                  <a:srgbClr val="8EA2BB"/>
                </a:solidFill>
                <a:latin typeface="Calibri"/>
              </a:rPr>
              <a:t>CryptoGuard   ·   HMAC-SHA256</a:t>
            </a:r>
          </a:p>
        </p:txBody>
      </p:sp>
      <p:sp>
        <p:nvSpPr>
          <p:cNvPr id="18" name="TextBox 17"/>
          <p:cNvSpPr txBox="1"/>
          <p:nvPr/>
        </p:nvSpPr>
        <p:spPr>
          <a:xfrm>
            <a:off x="10515600" y="6528816"/>
            <a:ext cx="1325880" cy="237744"/>
          </a:xfrm>
          <a:prstGeom prst="rect">
            <a:avLst/>
          </a:prstGeom>
          <a:noFill/>
        </p:spPr>
        <p:txBody>
          <a:bodyPr wrap="square" anchor="t" lIns="0" rIns="0" tIns="0" bIns="0"/>
          <a:lstStyle/>
          <a:p>
            <a:pPr algn="r">
              <a:spcBef>
                <a:spcPts val="0"/>
              </a:spcBef>
              <a:spcAft>
                <a:spcPts val="200"/>
              </a:spcAft>
            </a:pPr>
            <a:r>
              <a:rPr sz="1200" b="0" i="0">
                <a:solidFill>
                  <a:srgbClr val="8EA2BB"/>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37744"/>
            <a:ext cx="9144000" cy="256032"/>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DIGITAL SIGNATURES</a:t>
            </a:r>
          </a:p>
        </p:txBody>
      </p:sp>
      <p:sp>
        <p:nvSpPr>
          <p:cNvPr id="4" name="TextBox 3"/>
          <p:cNvSpPr txBox="1"/>
          <p:nvPr/>
        </p:nvSpPr>
        <p:spPr>
          <a:xfrm>
            <a:off x="384048" y="475488"/>
            <a:ext cx="11338560" cy="438912"/>
          </a:xfrm>
          <a:prstGeom prst="rect">
            <a:avLst/>
          </a:prstGeom>
          <a:noFill/>
        </p:spPr>
        <p:txBody>
          <a:bodyPr wrap="square" anchor="t" lIns="0" rIns="0" tIns="0" bIns="0"/>
          <a:lstStyle/>
          <a:p>
            <a:pPr algn="l">
              <a:spcBef>
                <a:spcPts val="0"/>
              </a:spcBef>
              <a:spcAft>
                <a:spcPts val="200"/>
              </a:spcAft>
            </a:pPr>
            <a:r>
              <a:rPr sz="3000" b="1" i="0">
                <a:solidFill>
                  <a:srgbClr val="FFFFFF"/>
                </a:solidFill>
                <a:latin typeface="Calibri"/>
              </a:rPr>
              <a:t>RSA-2048 with RSA-PSS and SHA-256</a:t>
            </a:r>
          </a:p>
        </p:txBody>
      </p:sp>
      <p:sp>
        <p:nvSpPr>
          <p:cNvPr id="5" name="Rounded Rectangle 4"/>
          <p:cNvSpPr/>
          <p:nvPr/>
        </p:nvSpPr>
        <p:spPr>
          <a:xfrm>
            <a:off x="384048" y="1143000"/>
            <a:ext cx="6903720" cy="585216"/>
          </a:xfrm>
          <a:prstGeom prst="roundRect">
            <a:avLst>
              <a:gd name="adj" fmla="val 15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71016"/>
            <a:ext cx="1737360" cy="329184"/>
          </a:xfrm>
          <a:prstGeom prst="rect">
            <a:avLst/>
          </a:prstGeom>
          <a:noFill/>
        </p:spPr>
        <p:txBody>
          <a:bodyPr wrap="square" anchor="t" lIns="0" rIns="0" tIns="0" bIns="0"/>
          <a:lstStyle/>
          <a:p>
            <a:pPr algn="l">
              <a:spcBef>
                <a:spcPts val="0"/>
              </a:spcBef>
              <a:spcAft>
                <a:spcPts val="200"/>
              </a:spcAft>
            </a:pPr>
            <a:r>
              <a:rPr sz="1400" b="1" i="0">
                <a:solidFill>
                  <a:srgbClr val="4CC9F0"/>
                </a:solidFill>
                <a:latin typeface="Calibri"/>
              </a:rPr>
              <a:t>Key</a:t>
            </a:r>
          </a:p>
        </p:txBody>
      </p:sp>
      <p:sp>
        <p:nvSpPr>
          <p:cNvPr id="7" name="TextBox 6"/>
          <p:cNvSpPr txBox="1"/>
          <p:nvPr/>
        </p:nvSpPr>
        <p:spPr>
          <a:xfrm>
            <a:off x="2331720" y="1271016"/>
            <a:ext cx="4754880" cy="329184"/>
          </a:xfrm>
          <a:prstGeom prst="rect">
            <a:avLst/>
          </a:prstGeom>
          <a:noFill/>
        </p:spPr>
        <p:txBody>
          <a:bodyPr wrap="square" anchor="t" lIns="0" rIns="0" tIns="0" bIns="0"/>
          <a:lstStyle/>
          <a:p>
            <a:pPr algn="l">
              <a:spcBef>
                <a:spcPts val="0"/>
              </a:spcBef>
              <a:spcAft>
                <a:spcPts val="200"/>
              </a:spcAft>
            </a:pPr>
            <a:r>
              <a:rPr sz="1400" b="0" i="0">
                <a:solidFill>
                  <a:srgbClr val="FFFFFF"/>
                </a:solidFill>
                <a:latin typeface="Calibri"/>
              </a:rPr>
              <a:t>2048-bit RSA, public exponent 65537</a:t>
            </a:r>
          </a:p>
        </p:txBody>
      </p:sp>
      <p:sp>
        <p:nvSpPr>
          <p:cNvPr id="8" name="Rounded Rectangle 7"/>
          <p:cNvSpPr/>
          <p:nvPr/>
        </p:nvSpPr>
        <p:spPr>
          <a:xfrm>
            <a:off x="384048" y="1801368"/>
            <a:ext cx="6903720" cy="585216"/>
          </a:xfrm>
          <a:prstGeom prst="roundRect">
            <a:avLst>
              <a:gd name="adj" fmla="val 15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29384"/>
            <a:ext cx="1737360" cy="329184"/>
          </a:xfrm>
          <a:prstGeom prst="rect">
            <a:avLst/>
          </a:prstGeom>
          <a:noFill/>
        </p:spPr>
        <p:txBody>
          <a:bodyPr wrap="square" anchor="t" lIns="0" rIns="0" tIns="0" bIns="0"/>
          <a:lstStyle/>
          <a:p>
            <a:pPr algn="l">
              <a:spcBef>
                <a:spcPts val="0"/>
              </a:spcBef>
              <a:spcAft>
                <a:spcPts val="200"/>
              </a:spcAft>
            </a:pPr>
            <a:r>
              <a:rPr sz="1400" b="1" i="0">
                <a:solidFill>
                  <a:srgbClr val="4CC9F0"/>
                </a:solidFill>
                <a:latin typeface="Calibri"/>
              </a:rPr>
              <a:t>Private key</a:t>
            </a:r>
          </a:p>
        </p:txBody>
      </p:sp>
      <p:sp>
        <p:nvSpPr>
          <p:cNvPr id="10" name="TextBox 9"/>
          <p:cNvSpPr txBox="1"/>
          <p:nvPr/>
        </p:nvSpPr>
        <p:spPr>
          <a:xfrm>
            <a:off x="2331720" y="1929384"/>
            <a:ext cx="4754880" cy="329184"/>
          </a:xfrm>
          <a:prstGeom prst="rect">
            <a:avLst/>
          </a:prstGeom>
          <a:noFill/>
        </p:spPr>
        <p:txBody>
          <a:bodyPr wrap="square" anchor="t" lIns="0" rIns="0" tIns="0" bIns="0"/>
          <a:lstStyle/>
          <a:p>
            <a:pPr algn="l">
              <a:spcBef>
                <a:spcPts val="0"/>
              </a:spcBef>
              <a:spcAft>
                <a:spcPts val="200"/>
              </a:spcAft>
            </a:pPr>
            <a:r>
              <a:rPr sz="1400" b="0" i="0">
                <a:solidFill>
                  <a:srgbClr val="FFFFFF"/>
                </a:solidFill>
                <a:latin typeface="Calibri"/>
              </a:rPr>
              <a:t>Unencrypted PKCS#8 PEM, shown once, not stored</a:t>
            </a:r>
          </a:p>
        </p:txBody>
      </p:sp>
      <p:sp>
        <p:nvSpPr>
          <p:cNvPr id="11" name="Rounded Rectangle 10"/>
          <p:cNvSpPr/>
          <p:nvPr/>
        </p:nvSpPr>
        <p:spPr>
          <a:xfrm>
            <a:off x="384048" y="2459736"/>
            <a:ext cx="6903720" cy="585216"/>
          </a:xfrm>
          <a:prstGeom prst="roundRect">
            <a:avLst>
              <a:gd name="adj" fmla="val 15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87752"/>
            <a:ext cx="1737360" cy="329184"/>
          </a:xfrm>
          <a:prstGeom prst="rect">
            <a:avLst/>
          </a:prstGeom>
          <a:noFill/>
        </p:spPr>
        <p:txBody>
          <a:bodyPr wrap="square" anchor="t" lIns="0" rIns="0" tIns="0" bIns="0"/>
          <a:lstStyle/>
          <a:p>
            <a:pPr algn="l">
              <a:spcBef>
                <a:spcPts val="0"/>
              </a:spcBef>
              <a:spcAft>
                <a:spcPts val="200"/>
              </a:spcAft>
            </a:pPr>
            <a:r>
              <a:rPr sz="1400" b="1" i="0">
                <a:solidFill>
                  <a:srgbClr val="4CC9F0"/>
                </a:solidFill>
                <a:latin typeface="Calibri"/>
              </a:rPr>
              <a:t>Padding</a:t>
            </a:r>
          </a:p>
        </p:txBody>
      </p:sp>
      <p:sp>
        <p:nvSpPr>
          <p:cNvPr id="13" name="TextBox 12"/>
          <p:cNvSpPr txBox="1"/>
          <p:nvPr/>
        </p:nvSpPr>
        <p:spPr>
          <a:xfrm>
            <a:off x="2331720" y="2587752"/>
            <a:ext cx="4754880" cy="329184"/>
          </a:xfrm>
          <a:prstGeom prst="rect">
            <a:avLst/>
          </a:prstGeom>
          <a:noFill/>
        </p:spPr>
        <p:txBody>
          <a:bodyPr wrap="square" anchor="t" lIns="0" rIns="0" tIns="0" bIns="0"/>
          <a:lstStyle/>
          <a:p>
            <a:pPr algn="l">
              <a:spcBef>
                <a:spcPts val="0"/>
              </a:spcBef>
              <a:spcAft>
                <a:spcPts val="200"/>
              </a:spcAft>
            </a:pPr>
            <a:r>
              <a:rPr sz="1400" b="0" i="0">
                <a:solidFill>
                  <a:srgbClr val="FFFFFF"/>
                </a:solidFill>
                <a:latin typeface="Calibri"/>
              </a:rPr>
              <a:t>RSA-PSS, MGF1-SHA256, salt length 32 bytes</a:t>
            </a:r>
          </a:p>
        </p:txBody>
      </p:sp>
      <p:sp>
        <p:nvSpPr>
          <p:cNvPr id="14" name="Rounded Rectangle 13"/>
          <p:cNvSpPr/>
          <p:nvPr/>
        </p:nvSpPr>
        <p:spPr>
          <a:xfrm>
            <a:off x="384048" y="3118104"/>
            <a:ext cx="6903720" cy="585216"/>
          </a:xfrm>
          <a:prstGeom prst="roundRect">
            <a:avLst>
              <a:gd name="adj" fmla="val 15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246120"/>
            <a:ext cx="1737360" cy="329184"/>
          </a:xfrm>
          <a:prstGeom prst="rect">
            <a:avLst/>
          </a:prstGeom>
          <a:noFill/>
        </p:spPr>
        <p:txBody>
          <a:bodyPr wrap="square" anchor="t" lIns="0" rIns="0" tIns="0" bIns="0"/>
          <a:lstStyle/>
          <a:p>
            <a:pPr algn="l">
              <a:spcBef>
                <a:spcPts val="0"/>
              </a:spcBef>
              <a:spcAft>
                <a:spcPts val="200"/>
              </a:spcAft>
            </a:pPr>
            <a:r>
              <a:rPr sz="1400" b="1" i="0">
                <a:solidFill>
                  <a:srgbClr val="4CC9F0"/>
                </a:solidFill>
                <a:latin typeface="Calibri"/>
              </a:rPr>
              <a:t>Signed bytes</a:t>
            </a:r>
          </a:p>
        </p:txBody>
      </p:sp>
      <p:sp>
        <p:nvSpPr>
          <p:cNvPr id="16" name="TextBox 15"/>
          <p:cNvSpPr txBox="1"/>
          <p:nvPr/>
        </p:nvSpPr>
        <p:spPr>
          <a:xfrm>
            <a:off x="2331720" y="3246120"/>
            <a:ext cx="4754880" cy="329184"/>
          </a:xfrm>
          <a:prstGeom prst="rect">
            <a:avLst/>
          </a:prstGeom>
          <a:noFill/>
        </p:spPr>
        <p:txBody>
          <a:bodyPr wrap="square" anchor="t" lIns="0" rIns="0" tIns="0" bIns="0"/>
          <a:lstStyle/>
          <a:p>
            <a:pPr algn="l">
              <a:spcBef>
                <a:spcPts val="0"/>
              </a:spcBef>
              <a:spcAft>
                <a:spcPts val="200"/>
              </a:spcAft>
            </a:pPr>
            <a:r>
              <a:rPr sz="1400" b="0" i="0">
                <a:solidFill>
                  <a:srgbClr val="FFFFFF"/>
                </a:solidFill>
                <a:latin typeface="Calibri"/>
              </a:rPr>
              <a:t>Exact UTF-8 text of the message</a:t>
            </a:r>
          </a:p>
        </p:txBody>
      </p:sp>
      <p:sp>
        <p:nvSpPr>
          <p:cNvPr id="17" name="Rounded Rectangle 16"/>
          <p:cNvSpPr/>
          <p:nvPr/>
        </p:nvSpPr>
        <p:spPr>
          <a:xfrm>
            <a:off x="384048" y="3776472"/>
            <a:ext cx="6903720" cy="585216"/>
          </a:xfrm>
          <a:prstGeom prst="roundRect">
            <a:avLst>
              <a:gd name="adj" fmla="val 15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904487"/>
            <a:ext cx="1737360" cy="329184"/>
          </a:xfrm>
          <a:prstGeom prst="rect">
            <a:avLst/>
          </a:prstGeom>
          <a:noFill/>
        </p:spPr>
        <p:txBody>
          <a:bodyPr wrap="square" anchor="t" lIns="0" rIns="0" tIns="0" bIns="0"/>
          <a:lstStyle/>
          <a:p>
            <a:pPr algn="l">
              <a:spcBef>
                <a:spcPts val="0"/>
              </a:spcBef>
              <a:spcAft>
                <a:spcPts val="200"/>
              </a:spcAft>
            </a:pPr>
            <a:r>
              <a:rPr sz="1400" b="1" i="0">
                <a:solidFill>
                  <a:srgbClr val="4CC9F0"/>
                </a:solidFill>
                <a:latin typeface="Calibri"/>
              </a:rPr>
              <a:t>Signature</a:t>
            </a:r>
          </a:p>
        </p:txBody>
      </p:sp>
      <p:sp>
        <p:nvSpPr>
          <p:cNvPr id="19" name="TextBox 18"/>
          <p:cNvSpPr txBox="1"/>
          <p:nvPr/>
        </p:nvSpPr>
        <p:spPr>
          <a:xfrm>
            <a:off x="2331720" y="3904487"/>
            <a:ext cx="4754880" cy="329184"/>
          </a:xfrm>
          <a:prstGeom prst="rect">
            <a:avLst/>
          </a:prstGeom>
          <a:noFill/>
        </p:spPr>
        <p:txBody>
          <a:bodyPr wrap="square" anchor="t" lIns="0" rIns="0" tIns="0" bIns="0"/>
          <a:lstStyle/>
          <a:p>
            <a:pPr algn="l">
              <a:spcBef>
                <a:spcPts val="0"/>
              </a:spcBef>
              <a:spcAft>
                <a:spcPts val="200"/>
              </a:spcAft>
            </a:pPr>
            <a:r>
              <a:rPr sz="1400" b="0" i="0">
                <a:solidFill>
                  <a:srgbClr val="FFFFFF"/>
                </a:solidFill>
                <a:latin typeface="Calibri"/>
              </a:rPr>
              <a:t>Base64 on the wire and on screen</a:t>
            </a:r>
          </a:p>
        </p:txBody>
      </p:sp>
      <p:sp>
        <p:nvSpPr>
          <p:cNvPr id="20" name="Rounded Rectangle 19"/>
          <p:cNvSpPr/>
          <p:nvPr/>
        </p:nvSpPr>
        <p:spPr>
          <a:xfrm>
            <a:off x="7452360" y="1143000"/>
            <a:ext cx="4343400" cy="214884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35240" y="1298448"/>
            <a:ext cx="4023360" cy="237744"/>
          </a:xfrm>
          <a:prstGeom prst="rect">
            <a:avLst/>
          </a:prstGeom>
          <a:noFill/>
        </p:spPr>
        <p:txBody>
          <a:bodyPr wrap="square" anchor="t" lIns="0" rIns="0" tIns="0" bIns="0"/>
          <a:lstStyle/>
          <a:p>
            <a:pPr algn="l">
              <a:spcBef>
                <a:spcPts val="0"/>
              </a:spcBef>
              <a:spcAft>
                <a:spcPts val="200"/>
              </a:spcAft>
            </a:pPr>
            <a:r>
              <a:rPr sz="1200" b="1" i="0">
                <a:solidFill>
                  <a:srgbClr val="3DDC97"/>
                </a:solidFill>
                <a:latin typeface="Calibri"/>
              </a:rPr>
              <a:t>UNCHANGED RECORD</a:t>
            </a:r>
          </a:p>
        </p:txBody>
      </p:sp>
      <p:sp>
        <p:nvSpPr>
          <p:cNvPr id="22" name="TextBox 21"/>
          <p:cNvSpPr txBox="1"/>
          <p:nvPr/>
        </p:nvSpPr>
        <p:spPr>
          <a:xfrm>
            <a:off x="7635240" y="1691640"/>
            <a:ext cx="3977639" cy="1280160"/>
          </a:xfrm>
          <a:prstGeom prst="rect">
            <a:avLst/>
          </a:prstGeom>
          <a:noFill/>
        </p:spPr>
        <p:txBody>
          <a:bodyPr wrap="square" anchor="t" lIns="0" rIns="0" tIns="0" bIns="0"/>
          <a:lstStyle/>
          <a:p>
            <a:pPr algn="l">
              <a:spcBef>
                <a:spcPts val="0"/>
              </a:spcBef>
              <a:spcAft>
                <a:spcPts val="200"/>
              </a:spcAft>
            </a:pPr>
            <a:r>
              <a:rPr sz="1600" b="0" i="0">
                <a:solidFill>
                  <a:srgbClr val="C5D2E4"/>
                </a:solidFill>
                <a:latin typeface="Calibri"/>
              </a:rPr>
              <a:t>The matching public key accepts the signature. The screen shows PASS.</a:t>
            </a:r>
          </a:p>
        </p:txBody>
      </p:sp>
      <p:sp>
        <p:nvSpPr>
          <p:cNvPr id="23" name="Rounded Rectangle 22"/>
          <p:cNvSpPr/>
          <p:nvPr/>
        </p:nvSpPr>
        <p:spPr>
          <a:xfrm>
            <a:off x="7452360" y="3456432"/>
            <a:ext cx="4343400" cy="214884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35240" y="3611880"/>
            <a:ext cx="4023360" cy="237744"/>
          </a:xfrm>
          <a:prstGeom prst="rect">
            <a:avLst/>
          </a:prstGeom>
          <a:noFill/>
        </p:spPr>
        <p:txBody>
          <a:bodyPr wrap="square" anchor="t" lIns="0" rIns="0" tIns="0" bIns="0"/>
          <a:lstStyle/>
          <a:p>
            <a:pPr algn="l">
              <a:spcBef>
                <a:spcPts val="0"/>
              </a:spcBef>
              <a:spcAft>
                <a:spcPts val="200"/>
              </a:spcAft>
            </a:pPr>
            <a:r>
              <a:rPr sz="1200" b="1" i="0">
                <a:solidFill>
                  <a:srgbClr val="FF7B86"/>
                </a:solidFill>
                <a:latin typeface="Calibri"/>
              </a:rPr>
              <a:t>MODIFIED RECORD</a:t>
            </a:r>
          </a:p>
        </p:txBody>
      </p:sp>
      <p:sp>
        <p:nvSpPr>
          <p:cNvPr id="25" name="TextBox 24"/>
          <p:cNvSpPr txBox="1"/>
          <p:nvPr/>
        </p:nvSpPr>
        <p:spPr>
          <a:xfrm>
            <a:off x="7635240" y="4005072"/>
            <a:ext cx="3977639" cy="1280160"/>
          </a:xfrm>
          <a:prstGeom prst="rect">
            <a:avLst/>
          </a:prstGeom>
          <a:noFill/>
        </p:spPr>
        <p:txBody>
          <a:bodyPr wrap="square" anchor="t" lIns="0" rIns="0" tIns="0" bIns="0"/>
          <a:lstStyle/>
          <a:p>
            <a:pPr algn="l">
              <a:spcBef>
                <a:spcPts val="0"/>
              </a:spcBef>
              <a:spcAft>
                <a:spcPts val="200"/>
              </a:spcAft>
            </a:pPr>
            <a:r>
              <a:rPr sz="1600" b="0" i="0">
                <a:solidFill>
                  <a:srgbClr val="C5D2E4"/>
                </a:solidFill>
                <a:latin typeface="Calibri"/>
              </a:rPr>
              <a:t>One changed character makes the same signature FAIL. A different public key also fails.</a:t>
            </a:r>
          </a:p>
        </p:txBody>
      </p:sp>
      <p:sp>
        <p:nvSpPr>
          <p:cNvPr id="26" name="TextBox 25"/>
          <p:cNvSpPr txBox="1"/>
          <p:nvPr/>
        </p:nvSpPr>
        <p:spPr>
          <a:xfrm>
            <a:off x="384048" y="5806440"/>
            <a:ext cx="11338560" cy="502920"/>
          </a:xfrm>
          <a:prstGeom prst="rect">
            <a:avLst/>
          </a:prstGeom>
          <a:noFill/>
        </p:spPr>
        <p:txBody>
          <a:bodyPr wrap="square" anchor="t" lIns="0" rIns="0" tIns="0" bIns="0"/>
          <a:lstStyle/>
          <a:p>
            <a:pPr algn="l">
              <a:spcBef>
                <a:spcPts val="0"/>
              </a:spcBef>
              <a:spcAft>
                <a:spcPts val="200"/>
              </a:spcAft>
            </a:pPr>
            <a:r>
              <a:rPr sz="1500" b="0" i="0">
                <a:solidFill>
                  <a:srgbClr val="F5C16C"/>
                </a:solidFill>
                <a:latin typeface="Calibri"/>
              </a:rPr>
              <a:t>Trusting the public key is a separate requirement. CryptoGuard does not bind a key to a company or a person.</a:t>
            </a:r>
          </a:p>
        </p:txBody>
      </p:sp>
      <p:sp>
        <p:nvSpPr>
          <p:cNvPr id="27" name="TextBox 26"/>
          <p:cNvSpPr txBox="1"/>
          <p:nvPr/>
        </p:nvSpPr>
        <p:spPr>
          <a:xfrm>
            <a:off x="347472" y="6528816"/>
            <a:ext cx="9326880" cy="237744"/>
          </a:xfrm>
          <a:prstGeom prst="rect">
            <a:avLst/>
          </a:prstGeom>
          <a:noFill/>
        </p:spPr>
        <p:txBody>
          <a:bodyPr wrap="square" anchor="t" lIns="0" rIns="0" tIns="0" bIns="0"/>
          <a:lstStyle/>
          <a:p>
            <a:pPr algn="l">
              <a:spcBef>
                <a:spcPts val="0"/>
              </a:spcBef>
              <a:spcAft>
                <a:spcPts val="200"/>
              </a:spcAft>
            </a:pPr>
            <a:r>
              <a:rPr sz="1200" b="0" i="0">
                <a:solidFill>
                  <a:srgbClr val="8EA2BB"/>
                </a:solidFill>
                <a:latin typeface="Calibri"/>
              </a:rPr>
              <a:t>CryptoGuard   ·   RSA-PSS</a:t>
            </a:r>
          </a:p>
        </p:txBody>
      </p:sp>
      <p:sp>
        <p:nvSpPr>
          <p:cNvPr id="28" name="TextBox 27"/>
          <p:cNvSpPr txBox="1"/>
          <p:nvPr/>
        </p:nvSpPr>
        <p:spPr>
          <a:xfrm>
            <a:off x="10515600" y="6528816"/>
            <a:ext cx="1325880" cy="237744"/>
          </a:xfrm>
          <a:prstGeom prst="rect">
            <a:avLst/>
          </a:prstGeom>
          <a:noFill/>
        </p:spPr>
        <p:txBody>
          <a:bodyPr wrap="square" anchor="t" lIns="0" rIns="0" tIns="0" bIns="0"/>
          <a:lstStyle/>
          <a:p>
            <a:pPr algn="r">
              <a:spcBef>
                <a:spcPts val="0"/>
              </a:spcBef>
              <a:spcAft>
                <a:spcPts val="200"/>
              </a:spcAft>
            </a:pPr>
            <a:r>
              <a:rPr sz="1200" b="0" i="0">
                <a:solidFill>
                  <a:srgbClr val="8EA2BB"/>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37744"/>
            <a:ext cx="9144000" cy="256032"/>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PRACTICAL DEMONSTRATION</a:t>
            </a:r>
          </a:p>
        </p:txBody>
      </p:sp>
      <p:sp>
        <p:nvSpPr>
          <p:cNvPr id="4" name="TextBox 3"/>
          <p:cNvSpPr txBox="1"/>
          <p:nvPr/>
        </p:nvSpPr>
        <p:spPr>
          <a:xfrm>
            <a:off x="384048" y="475488"/>
            <a:ext cx="11338560" cy="438912"/>
          </a:xfrm>
          <a:prstGeom prst="rect">
            <a:avLst/>
          </a:prstGeom>
          <a:noFill/>
        </p:spPr>
        <p:txBody>
          <a:bodyPr wrap="square" anchor="t" lIns="0" rIns="0" tIns="0" bIns="0"/>
          <a:lstStyle/>
          <a:p>
            <a:pPr algn="l">
              <a:spcBef>
                <a:spcPts val="0"/>
              </a:spcBef>
              <a:spcAft>
                <a:spcPts val="200"/>
              </a:spcAft>
            </a:pPr>
            <a:r>
              <a:rPr sz="3000" b="1" i="0">
                <a:solidFill>
                  <a:srgbClr val="FFFFFF"/>
                </a:solidFill>
                <a:latin typeface="Calibri"/>
              </a:rPr>
              <a:t>The live application, not a simulated result</a:t>
            </a:r>
          </a:p>
        </p:txBody>
      </p:sp>
      <p:sp>
        <p:nvSpPr>
          <p:cNvPr id="5" name="Rounded Rectangle 4"/>
          <p:cNvSpPr/>
          <p:nvPr/>
        </p:nvSpPr>
        <p:spPr>
          <a:xfrm>
            <a:off x="384048" y="1143000"/>
            <a:ext cx="11430000" cy="1115568"/>
          </a:xfrm>
          <a:prstGeom prst="roundRect">
            <a:avLst>
              <a:gd name="adj" fmla="val 10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399032"/>
            <a:ext cx="640080" cy="457200"/>
          </a:xfrm>
          <a:prstGeom prst="rect">
            <a:avLst/>
          </a:prstGeom>
          <a:noFill/>
        </p:spPr>
        <p:txBody>
          <a:bodyPr wrap="square" anchor="t" lIns="0" rIns="0" tIns="0" bIns="0"/>
          <a:lstStyle/>
          <a:p>
            <a:pPr algn="l">
              <a:spcBef>
                <a:spcPts val="0"/>
              </a:spcBef>
              <a:spcAft>
                <a:spcPts val="200"/>
              </a:spcAft>
            </a:pPr>
            <a:r>
              <a:rPr sz="1800" b="1" i="0">
                <a:solidFill>
                  <a:srgbClr val="4CC9F0"/>
                </a:solidFill>
                <a:latin typeface="Calibri"/>
              </a:rPr>
              <a:t>01</a:t>
            </a:r>
          </a:p>
        </p:txBody>
      </p:sp>
      <p:sp>
        <p:nvSpPr>
          <p:cNvPr id="7" name="TextBox 6"/>
          <p:cNvSpPr txBox="1"/>
          <p:nvPr/>
        </p:nvSpPr>
        <p:spPr>
          <a:xfrm>
            <a:off x="1280160" y="1289304"/>
            <a:ext cx="3017520" cy="365760"/>
          </a:xfrm>
          <a:prstGeom prst="rect">
            <a:avLst/>
          </a:prstGeom>
          <a:noFill/>
        </p:spPr>
        <p:txBody>
          <a:bodyPr wrap="square" anchor="t" lIns="0" rIns="0" tIns="0" bIns="0"/>
          <a:lstStyle/>
          <a:p>
            <a:pPr algn="l">
              <a:spcBef>
                <a:spcPts val="0"/>
              </a:spcBef>
              <a:spcAft>
                <a:spcPts val="200"/>
              </a:spcAft>
            </a:pPr>
            <a:r>
              <a:rPr sz="1600" b="1" i="0">
                <a:solidFill>
                  <a:srgbClr val="FFFFFF"/>
                </a:solidFill>
                <a:latin typeface="Calibri"/>
              </a:rPr>
              <a:t>Hash Checker</a:t>
            </a:r>
          </a:p>
        </p:txBody>
      </p:sp>
      <p:sp>
        <p:nvSpPr>
          <p:cNvPr id="8" name="TextBox 7"/>
          <p:cNvSpPr txBox="1"/>
          <p:nvPr/>
        </p:nvSpPr>
        <p:spPr>
          <a:xfrm>
            <a:off x="1280160" y="1673352"/>
            <a:ext cx="3017520" cy="365760"/>
          </a:xfrm>
          <a:prstGeom prst="rect">
            <a:avLst/>
          </a:prstGeom>
          <a:noFill/>
        </p:spPr>
        <p:txBody>
          <a:bodyPr wrap="square" anchor="t" lIns="0" rIns="0" tIns="0" bIns="0"/>
          <a:lstStyle/>
          <a:p>
            <a:pPr algn="l">
              <a:spcBef>
                <a:spcPts val="0"/>
              </a:spcBef>
              <a:spcAft>
                <a:spcPts val="200"/>
              </a:spcAft>
            </a:pPr>
            <a:r>
              <a:rPr sz="1300" b="0" i="0">
                <a:solidFill>
                  <a:srgbClr val="4CC9F0"/>
                </a:solidFill>
                <a:latin typeface="Calibri"/>
              </a:rPr>
              <a:t>/integrity</a:t>
            </a:r>
          </a:p>
        </p:txBody>
      </p:sp>
      <p:sp>
        <p:nvSpPr>
          <p:cNvPr id="9" name="TextBox 8"/>
          <p:cNvSpPr txBox="1"/>
          <p:nvPr/>
        </p:nvSpPr>
        <p:spPr>
          <a:xfrm>
            <a:off x="4480560" y="1399032"/>
            <a:ext cx="3931920" cy="640080"/>
          </a:xfrm>
          <a:prstGeom prst="rect">
            <a:avLst/>
          </a:prstGeom>
          <a:noFill/>
        </p:spPr>
        <p:txBody>
          <a:bodyPr wrap="square" anchor="t" lIns="0" rIns="0" tIns="0" bIns="0"/>
          <a:lstStyle/>
          <a:p>
            <a:pPr algn="l">
              <a:spcBef>
                <a:spcPts val="0"/>
              </a:spcBef>
              <a:spcAft>
                <a:spcPts val="200"/>
              </a:spcAft>
            </a:pPr>
            <a:r>
              <a:rPr sz="1400" b="0" i="0">
                <a:solidFill>
                  <a:srgbClr val="C5D2E4"/>
                </a:solidFill>
                <a:latin typeface="Calibri"/>
              </a:rPr>
              <a:t>Calculate SHA-256, then Compare Hashes.</a:t>
            </a:r>
          </a:p>
        </p:txBody>
      </p:sp>
      <p:sp>
        <p:nvSpPr>
          <p:cNvPr id="10" name="TextBox 9"/>
          <p:cNvSpPr txBox="1"/>
          <p:nvPr/>
        </p:nvSpPr>
        <p:spPr>
          <a:xfrm>
            <a:off x="8503920" y="1399032"/>
            <a:ext cx="3108960" cy="640080"/>
          </a:xfrm>
          <a:prstGeom prst="rect">
            <a:avLst/>
          </a:prstGeom>
          <a:noFill/>
        </p:spPr>
        <p:txBody>
          <a:bodyPr wrap="square" anchor="t" lIns="0" rIns="0" tIns="0" bIns="0"/>
          <a:lstStyle/>
          <a:p>
            <a:pPr algn="l">
              <a:spcBef>
                <a:spcPts val="0"/>
              </a:spcBef>
              <a:spcAft>
                <a:spcPts val="200"/>
              </a:spcAft>
            </a:pPr>
            <a:r>
              <a:rPr sz="1400" b="0" i="0">
                <a:solidFill>
                  <a:srgbClr val="FFFFFF"/>
                </a:solidFill>
                <a:latin typeface="Calibri"/>
              </a:rPr>
              <a:t>PASS, then FAIL after one hex change.</a:t>
            </a:r>
          </a:p>
        </p:txBody>
      </p:sp>
      <p:sp>
        <p:nvSpPr>
          <p:cNvPr id="11" name="Rounded Rectangle 10"/>
          <p:cNvSpPr/>
          <p:nvPr/>
        </p:nvSpPr>
        <p:spPr>
          <a:xfrm>
            <a:off x="384048" y="2377440"/>
            <a:ext cx="11430000" cy="1115568"/>
          </a:xfrm>
          <a:prstGeom prst="roundRect">
            <a:avLst>
              <a:gd name="adj" fmla="val 10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633472"/>
            <a:ext cx="640080" cy="457200"/>
          </a:xfrm>
          <a:prstGeom prst="rect">
            <a:avLst/>
          </a:prstGeom>
          <a:noFill/>
        </p:spPr>
        <p:txBody>
          <a:bodyPr wrap="square" anchor="t" lIns="0" rIns="0" tIns="0" bIns="0"/>
          <a:lstStyle/>
          <a:p>
            <a:pPr algn="l">
              <a:spcBef>
                <a:spcPts val="0"/>
              </a:spcBef>
              <a:spcAft>
                <a:spcPts val="200"/>
              </a:spcAft>
            </a:pPr>
            <a:r>
              <a:rPr sz="1800" b="1" i="0">
                <a:solidFill>
                  <a:srgbClr val="4CC9F0"/>
                </a:solidFill>
                <a:latin typeface="Calibri"/>
              </a:rPr>
              <a:t>02</a:t>
            </a:r>
          </a:p>
        </p:txBody>
      </p:sp>
      <p:sp>
        <p:nvSpPr>
          <p:cNvPr id="13" name="TextBox 12"/>
          <p:cNvSpPr txBox="1"/>
          <p:nvPr/>
        </p:nvSpPr>
        <p:spPr>
          <a:xfrm>
            <a:off x="1280160" y="2523744"/>
            <a:ext cx="3017520" cy="365760"/>
          </a:xfrm>
          <a:prstGeom prst="rect">
            <a:avLst/>
          </a:prstGeom>
          <a:noFill/>
        </p:spPr>
        <p:txBody>
          <a:bodyPr wrap="square" anchor="t" lIns="0" rIns="0" tIns="0" bIns="0"/>
          <a:lstStyle/>
          <a:p>
            <a:pPr algn="l">
              <a:spcBef>
                <a:spcPts val="0"/>
              </a:spcBef>
              <a:spcAft>
                <a:spcPts val="200"/>
              </a:spcAft>
            </a:pPr>
            <a:r>
              <a:rPr sz="1600" b="1" i="0">
                <a:solidFill>
                  <a:srgbClr val="FFFFFF"/>
                </a:solidFill>
                <a:latin typeface="Calibri"/>
              </a:rPr>
              <a:t>HMAC Verifier</a:t>
            </a:r>
          </a:p>
        </p:txBody>
      </p:sp>
      <p:sp>
        <p:nvSpPr>
          <p:cNvPr id="14" name="TextBox 13"/>
          <p:cNvSpPr txBox="1"/>
          <p:nvPr/>
        </p:nvSpPr>
        <p:spPr>
          <a:xfrm>
            <a:off x="1280160" y="2907792"/>
            <a:ext cx="3017520" cy="365760"/>
          </a:xfrm>
          <a:prstGeom prst="rect">
            <a:avLst/>
          </a:prstGeom>
          <a:noFill/>
        </p:spPr>
        <p:txBody>
          <a:bodyPr wrap="square" anchor="t" lIns="0" rIns="0" tIns="0" bIns="0"/>
          <a:lstStyle/>
          <a:p>
            <a:pPr algn="l">
              <a:spcBef>
                <a:spcPts val="0"/>
              </a:spcBef>
              <a:spcAft>
                <a:spcPts val="200"/>
              </a:spcAft>
            </a:pPr>
            <a:r>
              <a:rPr sz="1300" b="0" i="0">
                <a:solidFill>
                  <a:srgbClr val="4CC9F0"/>
                </a:solidFill>
                <a:latin typeface="Calibri"/>
              </a:rPr>
              <a:t>/hmac</a:t>
            </a:r>
          </a:p>
        </p:txBody>
      </p:sp>
      <p:sp>
        <p:nvSpPr>
          <p:cNvPr id="15" name="TextBox 14"/>
          <p:cNvSpPr txBox="1"/>
          <p:nvPr/>
        </p:nvSpPr>
        <p:spPr>
          <a:xfrm>
            <a:off x="4480560" y="2633472"/>
            <a:ext cx="3931920" cy="640080"/>
          </a:xfrm>
          <a:prstGeom prst="rect">
            <a:avLst/>
          </a:prstGeom>
          <a:noFill/>
        </p:spPr>
        <p:txBody>
          <a:bodyPr wrap="square" anchor="t" lIns="0" rIns="0" tIns="0" bIns="0"/>
          <a:lstStyle/>
          <a:p>
            <a:pPr algn="l">
              <a:spcBef>
                <a:spcPts val="0"/>
              </a:spcBef>
              <a:spcAft>
                <a:spcPts val="200"/>
              </a:spcAft>
            </a:pPr>
            <a:r>
              <a:rPr sz="1400" b="0" i="0">
                <a:solidFill>
                  <a:srgbClr val="C5D2E4"/>
                </a:solidFill>
                <a:latin typeface="Calibri"/>
              </a:rPr>
              <a:t>Generate authentication tag, then Verify tag.</a:t>
            </a:r>
          </a:p>
        </p:txBody>
      </p:sp>
      <p:sp>
        <p:nvSpPr>
          <p:cNvPr id="16" name="TextBox 15"/>
          <p:cNvSpPr txBox="1"/>
          <p:nvPr/>
        </p:nvSpPr>
        <p:spPr>
          <a:xfrm>
            <a:off x="8503920" y="2633472"/>
            <a:ext cx="3108960" cy="640080"/>
          </a:xfrm>
          <a:prstGeom prst="rect">
            <a:avLst/>
          </a:prstGeom>
          <a:noFill/>
        </p:spPr>
        <p:txBody>
          <a:bodyPr wrap="square" anchor="t" lIns="0" rIns="0" tIns="0" bIns="0"/>
          <a:lstStyle/>
          <a:p>
            <a:pPr algn="l">
              <a:spcBef>
                <a:spcPts val="0"/>
              </a:spcBef>
              <a:spcAft>
                <a:spcPts val="200"/>
              </a:spcAft>
            </a:pPr>
            <a:r>
              <a:rPr sz="1400" b="0" i="0">
                <a:solidFill>
                  <a:srgbClr val="FFFFFF"/>
                </a:solidFill>
                <a:latin typeface="Calibri"/>
              </a:rPr>
              <a:t>PASS, then FAIL after the message changes.</a:t>
            </a:r>
          </a:p>
        </p:txBody>
      </p:sp>
      <p:sp>
        <p:nvSpPr>
          <p:cNvPr id="17" name="Rounded Rectangle 16"/>
          <p:cNvSpPr/>
          <p:nvPr/>
        </p:nvSpPr>
        <p:spPr>
          <a:xfrm>
            <a:off x="384048" y="3611880"/>
            <a:ext cx="11430000" cy="1115568"/>
          </a:xfrm>
          <a:prstGeom prst="roundRect">
            <a:avLst>
              <a:gd name="adj" fmla="val 10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867912"/>
            <a:ext cx="640080" cy="457200"/>
          </a:xfrm>
          <a:prstGeom prst="rect">
            <a:avLst/>
          </a:prstGeom>
          <a:noFill/>
        </p:spPr>
        <p:txBody>
          <a:bodyPr wrap="square" anchor="t" lIns="0" rIns="0" tIns="0" bIns="0"/>
          <a:lstStyle/>
          <a:p>
            <a:pPr algn="l">
              <a:spcBef>
                <a:spcPts val="0"/>
              </a:spcBef>
              <a:spcAft>
                <a:spcPts val="200"/>
              </a:spcAft>
            </a:pPr>
            <a:r>
              <a:rPr sz="1800" b="1" i="0">
                <a:solidFill>
                  <a:srgbClr val="4CC9F0"/>
                </a:solidFill>
                <a:latin typeface="Calibri"/>
              </a:rPr>
              <a:t>03</a:t>
            </a:r>
          </a:p>
        </p:txBody>
      </p:sp>
      <p:sp>
        <p:nvSpPr>
          <p:cNvPr id="19" name="TextBox 18"/>
          <p:cNvSpPr txBox="1"/>
          <p:nvPr/>
        </p:nvSpPr>
        <p:spPr>
          <a:xfrm>
            <a:off x="1280160" y="3758184"/>
            <a:ext cx="3017520" cy="365760"/>
          </a:xfrm>
          <a:prstGeom prst="rect">
            <a:avLst/>
          </a:prstGeom>
          <a:noFill/>
        </p:spPr>
        <p:txBody>
          <a:bodyPr wrap="square" anchor="t" lIns="0" rIns="0" tIns="0" bIns="0"/>
          <a:lstStyle/>
          <a:p>
            <a:pPr algn="l">
              <a:spcBef>
                <a:spcPts val="0"/>
              </a:spcBef>
              <a:spcAft>
                <a:spcPts val="200"/>
              </a:spcAft>
            </a:pPr>
            <a:r>
              <a:rPr sz="1600" b="1" i="0">
                <a:solidFill>
                  <a:srgbClr val="FFFFFF"/>
                </a:solidFill>
                <a:latin typeface="Calibri"/>
              </a:rPr>
              <a:t>Digital Signatures</a:t>
            </a:r>
          </a:p>
        </p:txBody>
      </p:sp>
      <p:sp>
        <p:nvSpPr>
          <p:cNvPr id="20" name="TextBox 19"/>
          <p:cNvSpPr txBox="1"/>
          <p:nvPr/>
        </p:nvSpPr>
        <p:spPr>
          <a:xfrm>
            <a:off x="1280160" y="4142232"/>
            <a:ext cx="3017520" cy="365760"/>
          </a:xfrm>
          <a:prstGeom prst="rect">
            <a:avLst/>
          </a:prstGeom>
          <a:noFill/>
        </p:spPr>
        <p:txBody>
          <a:bodyPr wrap="square" anchor="t" lIns="0" rIns="0" tIns="0" bIns="0"/>
          <a:lstStyle/>
          <a:p>
            <a:pPr algn="l">
              <a:spcBef>
                <a:spcPts val="0"/>
              </a:spcBef>
              <a:spcAft>
                <a:spcPts val="200"/>
              </a:spcAft>
            </a:pPr>
            <a:r>
              <a:rPr sz="1300" b="0" i="0">
                <a:solidFill>
                  <a:srgbClr val="4CC9F0"/>
                </a:solidFill>
                <a:latin typeface="Calibri"/>
              </a:rPr>
              <a:t>/signatures</a:t>
            </a:r>
          </a:p>
        </p:txBody>
      </p:sp>
      <p:sp>
        <p:nvSpPr>
          <p:cNvPr id="21" name="TextBox 20"/>
          <p:cNvSpPr txBox="1"/>
          <p:nvPr/>
        </p:nvSpPr>
        <p:spPr>
          <a:xfrm>
            <a:off x="4480560" y="3867912"/>
            <a:ext cx="3931920" cy="640080"/>
          </a:xfrm>
          <a:prstGeom prst="rect">
            <a:avLst/>
          </a:prstGeom>
          <a:noFill/>
        </p:spPr>
        <p:txBody>
          <a:bodyPr wrap="square" anchor="t" lIns="0" rIns="0" tIns="0" bIns="0"/>
          <a:lstStyle/>
          <a:p>
            <a:pPr algn="l">
              <a:spcBef>
                <a:spcPts val="0"/>
              </a:spcBef>
              <a:spcAft>
                <a:spcPts val="200"/>
              </a:spcAft>
            </a:pPr>
            <a:r>
              <a:rPr sz="1400" b="0" i="0">
                <a:solidFill>
                  <a:srgbClr val="C5D2E4"/>
                </a:solidFill>
                <a:latin typeface="Calibri"/>
              </a:rPr>
              <a:t>Generate key pair, Sign message, Verify signature.</a:t>
            </a:r>
          </a:p>
        </p:txBody>
      </p:sp>
      <p:sp>
        <p:nvSpPr>
          <p:cNvPr id="22" name="TextBox 21"/>
          <p:cNvSpPr txBox="1"/>
          <p:nvPr/>
        </p:nvSpPr>
        <p:spPr>
          <a:xfrm>
            <a:off x="8503920" y="3867912"/>
            <a:ext cx="3108960" cy="640080"/>
          </a:xfrm>
          <a:prstGeom prst="rect">
            <a:avLst/>
          </a:prstGeom>
          <a:noFill/>
        </p:spPr>
        <p:txBody>
          <a:bodyPr wrap="square" anchor="t" lIns="0" rIns="0" tIns="0" bIns="0"/>
          <a:lstStyle/>
          <a:p>
            <a:pPr algn="l">
              <a:spcBef>
                <a:spcPts val="0"/>
              </a:spcBef>
              <a:spcAft>
                <a:spcPts val="200"/>
              </a:spcAft>
            </a:pPr>
            <a:r>
              <a:rPr sz="1400" b="0" i="0">
                <a:solidFill>
                  <a:srgbClr val="FFFFFF"/>
                </a:solidFill>
                <a:latin typeface="Calibri"/>
              </a:rPr>
              <a:t>PASS, then FAIL after the text changes.</a:t>
            </a:r>
          </a:p>
        </p:txBody>
      </p:sp>
      <p:sp>
        <p:nvSpPr>
          <p:cNvPr id="23" name="Rounded Rectangle 22"/>
          <p:cNvSpPr/>
          <p:nvPr/>
        </p:nvSpPr>
        <p:spPr>
          <a:xfrm>
            <a:off x="384048" y="4846320"/>
            <a:ext cx="11430000" cy="1115568"/>
          </a:xfrm>
          <a:prstGeom prst="roundRect">
            <a:avLst>
              <a:gd name="adj" fmla="val 10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5102352"/>
            <a:ext cx="640080" cy="457200"/>
          </a:xfrm>
          <a:prstGeom prst="rect">
            <a:avLst/>
          </a:prstGeom>
          <a:noFill/>
        </p:spPr>
        <p:txBody>
          <a:bodyPr wrap="square" anchor="t" lIns="0" rIns="0" tIns="0" bIns="0"/>
          <a:lstStyle/>
          <a:p>
            <a:pPr algn="l">
              <a:spcBef>
                <a:spcPts val="0"/>
              </a:spcBef>
              <a:spcAft>
                <a:spcPts val="200"/>
              </a:spcAft>
            </a:pPr>
            <a:r>
              <a:rPr sz="1800" b="1" i="0">
                <a:solidFill>
                  <a:srgbClr val="4CC9F0"/>
                </a:solidFill>
                <a:latin typeface="Calibri"/>
              </a:rPr>
              <a:t>04</a:t>
            </a:r>
          </a:p>
        </p:txBody>
      </p:sp>
      <p:sp>
        <p:nvSpPr>
          <p:cNvPr id="25" name="TextBox 24"/>
          <p:cNvSpPr txBox="1"/>
          <p:nvPr/>
        </p:nvSpPr>
        <p:spPr>
          <a:xfrm>
            <a:off x="1280160" y="4992624"/>
            <a:ext cx="3017520" cy="365760"/>
          </a:xfrm>
          <a:prstGeom prst="rect">
            <a:avLst/>
          </a:prstGeom>
          <a:noFill/>
        </p:spPr>
        <p:txBody>
          <a:bodyPr wrap="square" anchor="t" lIns="0" rIns="0" tIns="0" bIns="0"/>
          <a:lstStyle/>
          <a:p>
            <a:pPr algn="l">
              <a:spcBef>
                <a:spcPts val="0"/>
              </a:spcBef>
              <a:spcAft>
                <a:spcPts val="200"/>
              </a:spcAft>
            </a:pPr>
            <a:r>
              <a:rPr sz="1600" b="1" i="0">
                <a:solidFill>
                  <a:srgbClr val="FFFFFF"/>
                </a:solidFill>
                <a:latin typeface="Calibri"/>
              </a:rPr>
              <a:t>Reports</a:t>
            </a:r>
          </a:p>
        </p:txBody>
      </p:sp>
      <p:sp>
        <p:nvSpPr>
          <p:cNvPr id="26" name="TextBox 25"/>
          <p:cNvSpPr txBox="1"/>
          <p:nvPr/>
        </p:nvSpPr>
        <p:spPr>
          <a:xfrm>
            <a:off x="1280160" y="5376672"/>
            <a:ext cx="3017520" cy="365760"/>
          </a:xfrm>
          <a:prstGeom prst="rect">
            <a:avLst/>
          </a:prstGeom>
          <a:noFill/>
        </p:spPr>
        <p:txBody>
          <a:bodyPr wrap="square" anchor="t" lIns="0" rIns="0" tIns="0" bIns="0"/>
          <a:lstStyle/>
          <a:p>
            <a:pPr algn="l">
              <a:spcBef>
                <a:spcPts val="0"/>
              </a:spcBef>
              <a:spcAft>
                <a:spcPts val="200"/>
              </a:spcAft>
            </a:pPr>
            <a:r>
              <a:rPr sz="1300" b="0" i="0">
                <a:solidFill>
                  <a:srgbClr val="4CC9F0"/>
                </a:solidFill>
                <a:latin typeface="Calibri"/>
              </a:rPr>
              <a:t>/history</a:t>
            </a:r>
          </a:p>
        </p:txBody>
      </p:sp>
      <p:sp>
        <p:nvSpPr>
          <p:cNvPr id="27" name="TextBox 26"/>
          <p:cNvSpPr txBox="1"/>
          <p:nvPr/>
        </p:nvSpPr>
        <p:spPr>
          <a:xfrm>
            <a:off x="4480560" y="5102352"/>
            <a:ext cx="3931920" cy="640080"/>
          </a:xfrm>
          <a:prstGeom prst="rect">
            <a:avLst/>
          </a:prstGeom>
          <a:noFill/>
        </p:spPr>
        <p:txBody>
          <a:bodyPr wrap="square" anchor="t" lIns="0" rIns="0" tIns="0" bIns="0"/>
          <a:lstStyle/>
          <a:p>
            <a:pPr algn="l">
              <a:spcBef>
                <a:spcPts val="0"/>
              </a:spcBef>
              <a:spcAft>
                <a:spcPts val="200"/>
              </a:spcAft>
            </a:pPr>
            <a:r>
              <a:rPr sz="1400" b="0" i="0">
                <a:solidFill>
                  <a:srgbClr val="C5D2E4"/>
                </a:solidFill>
                <a:latin typeface="Calibri"/>
              </a:rPr>
              <a:t>Open the new rows. Export CSV or download JSON.</a:t>
            </a:r>
          </a:p>
        </p:txBody>
      </p:sp>
      <p:sp>
        <p:nvSpPr>
          <p:cNvPr id="28" name="TextBox 27"/>
          <p:cNvSpPr txBox="1"/>
          <p:nvPr/>
        </p:nvSpPr>
        <p:spPr>
          <a:xfrm>
            <a:off x="8503920" y="5102352"/>
            <a:ext cx="3108960" cy="640080"/>
          </a:xfrm>
          <a:prstGeom prst="rect">
            <a:avLst/>
          </a:prstGeom>
          <a:noFill/>
        </p:spPr>
        <p:txBody>
          <a:bodyPr wrap="square" anchor="t" lIns="0" rIns="0" tIns="0" bIns="0"/>
          <a:lstStyle/>
          <a:p>
            <a:pPr algn="l">
              <a:spcBef>
                <a:spcPts val="0"/>
              </a:spcBef>
              <a:spcAft>
                <a:spcPts val="200"/>
              </a:spcAft>
            </a:pPr>
            <a:r>
              <a:rPr sz="1400" b="0" i="0">
                <a:solidFill>
                  <a:srgbClr val="FFFFFF"/>
                </a:solidFill>
                <a:latin typeface="Calibri"/>
              </a:rPr>
              <a:t>Sanitized history. No secret and no private key.</a:t>
            </a:r>
          </a:p>
        </p:txBody>
      </p:sp>
      <p:sp>
        <p:nvSpPr>
          <p:cNvPr id="29" name="TextBox 28"/>
          <p:cNvSpPr txBox="1"/>
          <p:nvPr/>
        </p:nvSpPr>
        <p:spPr>
          <a:xfrm>
            <a:off x="347472" y="6528816"/>
            <a:ext cx="9326880" cy="237744"/>
          </a:xfrm>
          <a:prstGeom prst="rect">
            <a:avLst/>
          </a:prstGeom>
          <a:noFill/>
        </p:spPr>
        <p:txBody>
          <a:bodyPr wrap="square" anchor="t" lIns="0" rIns="0" tIns="0" bIns="0"/>
          <a:lstStyle/>
          <a:p>
            <a:pPr algn="l">
              <a:spcBef>
                <a:spcPts val="0"/>
              </a:spcBef>
              <a:spcAft>
                <a:spcPts val="200"/>
              </a:spcAft>
            </a:pPr>
            <a:r>
              <a:rPr sz="1200" b="0" i="0">
                <a:solidFill>
                  <a:srgbClr val="8EA2BB"/>
                </a:solidFill>
                <a:latin typeface="Calibri"/>
              </a:rPr>
              <a:t>CryptoGuard   ·   Demonstration</a:t>
            </a:r>
          </a:p>
        </p:txBody>
      </p:sp>
      <p:sp>
        <p:nvSpPr>
          <p:cNvPr id="30" name="TextBox 29"/>
          <p:cNvSpPr txBox="1"/>
          <p:nvPr/>
        </p:nvSpPr>
        <p:spPr>
          <a:xfrm>
            <a:off x="10515600" y="6528816"/>
            <a:ext cx="1325880" cy="237744"/>
          </a:xfrm>
          <a:prstGeom prst="rect">
            <a:avLst/>
          </a:prstGeom>
          <a:noFill/>
        </p:spPr>
        <p:txBody>
          <a:bodyPr wrap="square" anchor="t" lIns="0" rIns="0" tIns="0" bIns="0"/>
          <a:lstStyle/>
          <a:p>
            <a:pPr algn="r">
              <a:spcBef>
                <a:spcPts val="0"/>
              </a:spcBef>
              <a:spcAft>
                <a:spcPts val="200"/>
              </a:spcAft>
            </a:pPr>
            <a:r>
              <a:rPr sz="1200" b="0" i="0">
                <a:solidFill>
                  <a:srgbClr val="8EA2BB"/>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37744"/>
            <a:ext cx="9144000" cy="256032"/>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CASE STUDY  ·  HYPOTHETICAL</a:t>
            </a:r>
          </a:p>
        </p:txBody>
      </p:sp>
      <p:sp>
        <p:nvSpPr>
          <p:cNvPr id="4" name="TextBox 3"/>
          <p:cNvSpPr txBox="1"/>
          <p:nvPr/>
        </p:nvSpPr>
        <p:spPr>
          <a:xfrm>
            <a:off x="384048" y="475488"/>
            <a:ext cx="11338560" cy="438912"/>
          </a:xfrm>
          <a:prstGeom prst="rect">
            <a:avLst/>
          </a:prstGeom>
          <a:noFill/>
        </p:spPr>
        <p:txBody>
          <a:bodyPr wrap="square" anchor="t" lIns="0" rIns="0" tIns="0" bIns="0"/>
          <a:lstStyle/>
          <a:p>
            <a:pPr algn="l">
              <a:spcBef>
                <a:spcPts val="0"/>
              </a:spcBef>
              <a:spcAft>
                <a:spcPts val="200"/>
              </a:spcAft>
            </a:pPr>
            <a:r>
              <a:rPr sz="3000" b="1" i="0">
                <a:solidFill>
                  <a:srgbClr val="FFFFFF"/>
                </a:solidFill>
                <a:latin typeface="Calibri"/>
              </a:rPr>
              <a:t>Detect an altered download before acceptance</a:t>
            </a:r>
          </a:p>
        </p:txBody>
      </p:sp>
      <p:graphicFrame>
        <p:nvGraphicFramePr>
          <p:cNvPr id="5" name="Table 4"/>
          <p:cNvGraphicFramePr>
            <a:graphicFrameLocks noGrp="1"/>
          </p:cNvGraphicFramePr>
          <p:nvPr/>
        </p:nvGraphicFramePr>
        <p:xfrm>
          <a:off x="347472" y="1170432"/>
          <a:ext cx="11475720" cy="3931920"/>
        </p:xfrm>
        <a:graphic>
          <a:graphicData uri="http://schemas.openxmlformats.org/drawingml/2006/table">
            <a:tbl>
              <a:tblPr firstRow="1" bandRow="1">
                <a:tableStyleId>{5C22544A-7EE6-4342-B048-85BDC9FD1C3A}</a:tableStyleId>
              </a:tblPr>
              <a:tblGrid>
                <a:gridCol w="2651760"/>
                <a:gridCol w="2880360"/>
                <a:gridCol w="3154680"/>
                <a:gridCol w="2788920"/>
              </a:tblGrid>
              <a:tr h="457200">
                <a:tc>
                  <a:txBody>
                    <a:bodyPr wrap="square"/>
                    <a:lstStyle/>
                    <a:p>
                      <a:pPr algn="l"/>
                      <a:r>
                        <a:rPr sz="1300" b="1" i="0">
                          <a:solidFill>
                            <a:srgbClr val="FFFFFF"/>
                          </a:solidFill>
                          <a:latin typeface="Calibri"/>
                        </a:rPr>
                        <a:t>Threat</a:t>
                      </a:r>
                    </a:p>
                  </a:txBody>
                  <a:tcPr anchor="ctr" marL="73152" marR="73152" marT="36576" marB="36576">
                    <a:solidFill>
                      <a:srgbClr val="1A2840"/>
                    </a:solidFill>
                  </a:tcPr>
                </a:tc>
                <a:tc>
                  <a:txBody>
                    <a:bodyPr wrap="square"/>
                    <a:lstStyle/>
                    <a:p>
                      <a:pPr algn="l"/>
                      <a:r>
                        <a:rPr sz="1300" b="1" i="0">
                          <a:solidFill>
                            <a:srgbClr val="FFFFFF"/>
                          </a:solidFill>
                          <a:latin typeface="Calibri"/>
                        </a:rPr>
                        <a:t>CryptoGuard control</a:t>
                      </a:r>
                    </a:p>
                  </a:txBody>
                  <a:tcPr anchor="ctr" marL="73152" marR="73152" marT="36576" marB="36576">
                    <a:solidFill>
                      <a:srgbClr val="1A2840"/>
                    </a:solidFill>
                  </a:tcPr>
                </a:tc>
                <a:tc>
                  <a:txBody>
                    <a:bodyPr wrap="square"/>
                    <a:lstStyle/>
                    <a:p>
                      <a:pPr algn="l"/>
                      <a:r>
                        <a:rPr sz="1300" b="1" i="0">
                          <a:solidFill>
                            <a:srgbClr val="FFFFFF"/>
                          </a:solidFill>
                          <a:latin typeface="Calibri"/>
                        </a:rPr>
                        <a:t>What it can establish</a:t>
                      </a:r>
                    </a:p>
                  </a:txBody>
                  <a:tcPr anchor="ctr" marL="73152" marR="73152" marT="36576" marB="36576">
                    <a:solidFill>
                      <a:srgbClr val="1A2840"/>
                    </a:solidFill>
                  </a:tcPr>
                </a:tc>
                <a:tc>
                  <a:txBody>
                    <a:bodyPr wrap="square"/>
                    <a:lstStyle/>
                    <a:p>
                      <a:pPr algn="l"/>
                      <a:r>
                        <a:rPr sz="1300" b="1" i="0">
                          <a:solidFill>
                            <a:srgbClr val="FFFFFF"/>
                          </a:solidFill>
                          <a:latin typeface="Calibri"/>
                        </a:rPr>
                        <a:t>Remaining limit</a:t>
                      </a:r>
                    </a:p>
                  </a:txBody>
                  <a:tcPr anchor="ctr" marL="73152" marR="73152" marT="36576" marB="36576">
                    <a:solidFill>
                      <a:srgbClr val="1A2840"/>
                    </a:solidFill>
                  </a:tcPr>
                </a:tc>
              </a:tr>
              <a:tr h="868680">
                <a:tc>
                  <a:txBody>
                    <a:bodyPr wrap="square"/>
                    <a:lstStyle/>
                    <a:p>
                      <a:pPr algn="l"/>
                      <a:r>
                        <a:rPr sz="1300" b="1" i="0">
                          <a:solidFill>
                            <a:srgbClr val="FFFFFF"/>
                          </a:solidFill>
                          <a:latin typeface="Calibri"/>
                        </a:rPr>
                        <a:t>Altered file bytes</a:t>
                      </a:r>
                    </a:p>
                  </a:txBody>
                  <a:tcPr anchor="ctr" marL="73152" marR="73152" marT="36576" marB="36576">
                    <a:solidFill>
                      <a:srgbClr val="152034"/>
                    </a:solidFill>
                  </a:tcPr>
                </a:tc>
                <a:tc>
                  <a:txBody>
                    <a:bodyPr wrap="square"/>
                    <a:lstStyle/>
                    <a:p>
                      <a:pPr algn="l"/>
                      <a:r>
                        <a:rPr sz="1300" b="0" i="0">
                          <a:solidFill>
                            <a:srgbClr val="FFFFFF"/>
                          </a:solidFill>
                          <a:latin typeface="Calibri"/>
                        </a:rPr>
                        <a:t>SHA-256 comparison</a:t>
                      </a:r>
                    </a:p>
                  </a:txBody>
                  <a:tcPr anchor="ctr" marL="73152" marR="73152" marT="36576" marB="36576">
                    <a:solidFill>
                      <a:srgbClr val="152034"/>
                    </a:solidFill>
                  </a:tcPr>
                </a:tc>
                <a:tc>
                  <a:txBody>
                    <a:bodyPr wrap="square"/>
                    <a:lstStyle/>
                    <a:p>
                      <a:pPr algn="l"/>
                      <a:r>
                        <a:rPr sz="1300" b="0" i="0">
                          <a:solidFill>
                            <a:srgbClr val="FFFFFF"/>
                          </a:solidFill>
                          <a:latin typeface="Calibri"/>
                        </a:rPr>
                        <a:t>Bytes differ from the reference</a:t>
                      </a:r>
                    </a:p>
                  </a:txBody>
                  <a:tcPr anchor="ctr" marL="73152" marR="73152" marT="36576" marB="36576">
                    <a:solidFill>
                      <a:srgbClr val="152034"/>
                    </a:solidFill>
                  </a:tcPr>
                </a:tc>
                <a:tc>
                  <a:txBody>
                    <a:bodyPr wrap="square"/>
                    <a:lstStyle/>
                    <a:p>
                      <a:pPr algn="l"/>
                      <a:r>
                        <a:rPr sz="1300" b="0" i="0">
                          <a:solidFill>
                            <a:srgbClr val="FFFFFF"/>
                          </a:solidFill>
                          <a:latin typeface="Calibri"/>
                        </a:rPr>
                        <a:t>Does not name the attacker</a:t>
                      </a:r>
                    </a:p>
                  </a:txBody>
                  <a:tcPr anchor="ctr" marL="73152" marR="73152" marT="36576" marB="36576">
                    <a:solidFill>
                      <a:srgbClr val="152034"/>
                    </a:solidFill>
                  </a:tcPr>
                </a:tc>
              </a:tr>
              <a:tr h="868680">
                <a:tc>
                  <a:txBody>
                    <a:bodyPr wrap="square"/>
                    <a:lstStyle/>
                    <a:p>
                      <a:pPr algn="l"/>
                      <a:r>
                        <a:rPr sz="1300" b="1" i="0">
                          <a:solidFill>
                            <a:srgbClr val="FFFFFF"/>
                          </a:solidFill>
                          <a:latin typeface="Calibri"/>
                        </a:rPr>
                        <a:t>Edited release note</a:t>
                      </a:r>
                    </a:p>
                  </a:txBody>
                  <a:tcPr anchor="ctr" marL="73152" marR="73152" marT="36576" marB="36576">
                    <a:solidFill>
                      <a:srgbClr val="121C2E"/>
                    </a:solidFill>
                  </a:tcPr>
                </a:tc>
                <a:tc>
                  <a:txBody>
                    <a:bodyPr wrap="square"/>
                    <a:lstStyle/>
                    <a:p>
                      <a:pPr algn="l"/>
                      <a:r>
                        <a:rPr sz="1300" b="0" i="0">
                          <a:solidFill>
                            <a:srgbClr val="FFFFFF"/>
                          </a:solidFill>
                          <a:latin typeface="Calibri"/>
                        </a:rPr>
                        <a:t>RSA-PSS verification</a:t>
                      </a:r>
                    </a:p>
                  </a:txBody>
                  <a:tcPr anchor="ctr" marL="73152" marR="73152" marT="36576" marB="36576">
                    <a:solidFill>
                      <a:srgbClr val="121C2E"/>
                    </a:solidFill>
                  </a:tcPr>
                </a:tc>
                <a:tc>
                  <a:txBody>
                    <a:bodyPr wrap="square"/>
                    <a:lstStyle/>
                    <a:p>
                      <a:pPr algn="l"/>
                      <a:r>
                        <a:rPr sz="1300" b="0" i="0">
                          <a:solidFill>
                            <a:srgbClr val="FFFFFF"/>
                          </a:solidFill>
                          <a:latin typeface="Calibri"/>
                        </a:rPr>
                        <a:t>This public key rejects the signature</a:t>
                      </a:r>
                    </a:p>
                  </a:txBody>
                  <a:tcPr anchor="ctr" marL="73152" marR="73152" marT="36576" marB="36576">
                    <a:solidFill>
                      <a:srgbClr val="121C2E"/>
                    </a:solidFill>
                  </a:tcPr>
                </a:tc>
                <a:tc>
                  <a:txBody>
                    <a:bodyPr wrap="square"/>
                    <a:lstStyle/>
                    <a:p>
                      <a:pPr algn="l"/>
                      <a:r>
                        <a:rPr sz="1300" b="0" i="0">
                          <a:solidFill>
                            <a:srgbClr val="FFFFFF"/>
                          </a:solidFill>
                          <a:latin typeface="Calibri"/>
                        </a:rPr>
                        <a:t>The key must already be trusted</a:t>
                      </a:r>
                    </a:p>
                  </a:txBody>
                  <a:tcPr anchor="ctr" marL="73152" marR="73152" marT="36576" marB="36576">
                    <a:solidFill>
                      <a:srgbClr val="121C2E"/>
                    </a:solidFill>
                  </a:tcPr>
                </a:tc>
              </a:tr>
              <a:tr h="868680">
                <a:tc>
                  <a:txBody>
                    <a:bodyPr wrap="square"/>
                    <a:lstStyle/>
                    <a:p>
                      <a:pPr algn="l"/>
                      <a:r>
                        <a:rPr sz="1300" b="1" i="0">
                          <a:solidFill>
                            <a:srgbClr val="FFFFFF"/>
                          </a:solidFill>
                          <a:latin typeface="Calibri"/>
                        </a:rPr>
                        <a:t>Forged status message</a:t>
                      </a:r>
                    </a:p>
                  </a:txBody>
                  <a:tcPr anchor="ctr" marL="73152" marR="73152" marT="36576" marB="36576">
                    <a:solidFill>
                      <a:srgbClr val="152034"/>
                    </a:solidFill>
                  </a:tcPr>
                </a:tc>
                <a:tc>
                  <a:txBody>
                    <a:bodyPr wrap="square"/>
                    <a:lstStyle/>
                    <a:p>
                      <a:pPr algn="l"/>
                      <a:r>
                        <a:rPr sz="1300" b="0" i="0">
                          <a:solidFill>
                            <a:srgbClr val="FFFFFF"/>
                          </a:solidFill>
                          <a:latin typeface="Calibri"/>
                        </a:rPr>
                        <a:t>HMAC-SHA256</a:t>
                      </a:r>
                    </a:p>
                  </a:txBody>
                  <a:tcPr anchor="ctr" marL="73152" marR="73152" marT="36576" marB="36576">
                    <a:solidFill>
                      <a:srgbClr val="152034"/>
                    </a:solidFill>
                  </a:tcPr>
                </a:tc>
                <a:tc>
                  <a:txBody>
                    <a:bodyPr wrap="square"/>
                    <a:lstStyle/>
                    <a:p>
                      <a:pPr algn="l"/>
                      <a:r>
                        <a:rPr sz="1300" b="0" i="0">
                          <a:solidFill>
                            <a:srgbClr val="FFFFFF"/>
                          </a:solidFill>
                          <a:latin typeface="Calibri"/>
                        </a:rPr>
                        <a:t>The tag does not match the secret</a:t>
                      </a:r>
                    </a:p>
                  </a:txBody>
                  <a:tcPr anchor="ctr" marL="73152" marR="73152" marT="36576" marB="36576">
                    <a:solidFill>
                      <a:srgbClr val="152034"/>
                    </a:solidFill>
                  </a:tcPr>
                </a:tc>
                <a:tc>
                  <a:txBody>
                    <a:bodyPr wrap="square"/>
                    <a:lstStyle/>
                    <a:p>
                      <a:pPr algn="l"/>
                      <a:r>
                        <a:rPr sz="1300" b="0" i="0">
                          <a:solidFill>
                            <a:srgbClr val="FFFFFF"/>
                          </a:solidFill>
                          <a:latin typeface="Calibri"/>
                        </a:rPr>
                        <a:t>A stolen secret fools both sides</a:t>
                      </a:r>
                    </a:p>
                  </a:txBody>
                  <a:tcPr anchor="ctr" marL="73152" marR="73152" marT="36576" marB="36576">
                    <a:solidFill>
                      <a:srgbClr val="152034"/>
                    </a:solidFill>
                  </a:tcPr>
                </a:tc>
              </a:tr>
              <a:tr h="868680">
                <a:tc>
                  <a:txBody>
                    <a:bodyPr wrap="square"/>
                    <a:lstStyle/>
                    <a:p>
                      <a:pPr algn="l"/>
                      <a:r>
                        <a:rPr sz="1300" b="1" i="0">
                          <a:solidFill>
                            <a:srgbClr val="FFFFFF"/>
                          </a:solidFill>
                          <a:latin typeface="Calibri"/>
                        </a:rPr>
                        <a:t>Unknown vulnerabilities</a:t>
                      </a:r>
                    </a:p>
                  </a:txBody>
                  <a:tcPr anchor="ctr" marL="73152" marR="73152" marT="36576" marB="36576">
                    <a:solidFill>
                      <a:srgbClr val="121C2E"/>
                    </a:solidFill>
                  </a:tcPr>
                </a:tc>
                <a:tc>
                  <a:txBody>
                    <a:bodyPr wrap="square"/>
                    <a:lstStyle/>
                    <a:p>
                      <a:pPr algn="l"/>
                      <a:r>
                        <a:rPr sz="1300" b="0" i="0">
                          <a:solidFill>
                            <a:srgbClr val="FFFFFF"/>
                          </a:solidFill>
                          <a:latin typeface="Calibri"/>
                        </a:rPr>
                        <a:t>OSV exact-version query</a:t>
                      </a:r>
                    </a:p>
                  </a:txBody>
                  <a:tcPr anchor="ctr" marL="73152" marR="73152" marT="36576" marB="36576">
                    <a:solidFill>
                      <a:srgbClr val="121C2E"/>
                    </a:solidFill>
                  </a:tcPr>
                </a:tc>
                <a:tc>
                  <a:txBody>
                    <a:bodyPr wrap="square"/>
                    <a:lstStyle/>
                    <a:p>
                      <a:pPr algn="l"/>
                      <a:r>
                        <a:rPr sz="1300" b="0" i="0">
                          <a:solidFill>
                            <a:srgbClr val="FFFFFF"/>
                          </a:solidFill>
                          <a:latin typeface="Calibri"/>
                        </a:rPr>
                        <a:t>Advisories returned, or none found</a:t>
                      </a:r>
                    </a:p>
                  </a:txBody>
                  <a:tcPr anchor="ctr" marL="73152" marR="73152" marT="36576" marB="36576">
                    <a:solidFill>
                      <a:srgbClr val="121C2E"/>
                    </a:solidFill>
                  </a:tcPr>
                </a:tc>
                <a:tc>
                  <a:txBody>
                    <a:bodyPr wrap="square"/>
                    <a:lstStyle/>
                    <a:p>
                      <a:pPr algn="l"/>
                      <a:r>
                        <a:rPr sz="1300" b="0" i="0">
                          <a:solidFill>
                            <a:srgbClr val="FFFFFF"/>
                          </a:solidFill>
                          <a:latin typeface="Calibri"/>
                        </a:rPr>
                        <a:t>Empty is not proof of safety</a:t>
                      </a:r>
                    </a:p>
                  </a:txBody>
                  <a:tcPr anchor="ctr" marL="73152" marR="73152" marT="36576" marB="36576">
                    <a:solidFill>
                      <a:srgbClr val="121C2E"/>
                    </a:solidFill>
                  </a:tcPr>
                </a:tc>
              </a:tr>
            </a:tbl>
          </a:graphicData>
        </a:graphic>
      </p:graphicFrame>
      <p:sp>
        <p:nvSpPr>
          <p:cNvPr id="6" name="TextBox 5"/>
          <p:cNvSpPr txBox="1"/>
          <p:nvPr/>
        </p:nvSpPr>
        <p:spPr>
          <a:xfrm>
            <a:off x="384048" y="5532120"/>
            <a:ext cx="11338560" cy="777240"/>
          </a:xfrm>
          <a:prstGeom prst="rect">
            <a:avLst/>
          </a:prstGeom>
          <a:noFill/>
        </p:spPr>
        <p:txBody>
          <a:bodyPr wrap="square" anchor="t" lIns="0" rIns="0" tIns="0" bIns="0"/>
          <a:lstStyle/>
          <a:p>
            <a:pPr algn="l">
              <a:spcBef>
                <a:spcPts val="0"/>
              </a:spcBef>
              <a:spcAft>
                <a:spcPts val="200"/>
              </a:spcAft>
            </a:pPr>
            <a:r>
              <a:rPr sz="1400" b="0" i="0">
                <a:solidFill>
                  <a:srgbClr val="C5D2E4"/>
                </a:solidFill>
                <a:latin typeface="Calibri"/>
              </a:rPr>
              <a:t>Harborline Instruments is a teaching scenario. A successful check is not a complete software security assessment. SLSA build provenance and malware analysis are outside CryptoGuard.</a:t>
            </a:r>
          </a:p>
        </p:txBody>
      </p:sp>
      <p:sp>
        <p:nvSpPr>
          <p:cNvPr id="7" name="TextBox 6"/>
          <p:cNvSpPr txBox="1"/>
          <p:nvPr/>
        </p:nvSpPr>
        <p:spPr>
          <a:xfrm>
            <a:off x="347472" y="6528816"/>
            <a:ext cx="9326880" cy="237744"/>
          </a:xfrm>
          <a:prstGeom prst="rect">
            <a:avLst/>
          </a:prstGeom>
          <a:noFill/>
        </p:spPr>
        <p:txBody>
          <a:bodyPr wrap="square" anchor="t" lIns="0" rIns="0" tIns="0" bIns="0"/>
          <a:lstStyle/>
          <a:p>
            <a:pPr algn="l">
              <a:spcBef>
                <a:spcPts val="0"/>
              </a:spcBef>
              <a:spcAft>
                <a:spcPts val="200"/>
              </a:spcAft>
            </a:pPr>
            <a:r>
              <a:rPr sz="1200" b="0" i="0">
                <a:solidFill>
                  <a:srgbClr val="8EA2BB"/>
                </a:solidFill>
                <a:latin typeface="Calibri"/>
              </a:rPr>
              <a:t>CryptoGuard   ·   Case study</a:t>
            </a:r>
          </a:p>
        </p:txBody>
      </p:sp>
      <p:sp>
        <p:nvSpPr>
          <p:cNvPr id="8" name="TextBox 7"/>
          <p:cNvSpPr txBox="1"/>
          <p:nvPr/>
        </p:nvSpPr>
        <p:spPr>
          <a:xfrm>
            <a:off x="10515600" y="6528816"/>
            <a:ext cx="1325880" cy="237744"/>
          </a:xfrm>
          <a:prstGeom prst="rect">
            <a:avLst/>
          </a:prstGeom>
          <a:noFill/>
        </p:spPr>
        <p:txBody>
          <a:bodyPr wrap="square" anchor="t" lIns="0" rIns="0" tIns="0" bIns="0"/>
          <a:lstStyle/>
          <a:p>
            <a:pPr algn="r">
              <a:spcBef>
                <a:spcPts val="0"/>
              </a:spcBef>
              <a:spcAft>
                <a:spcPts val="200"/>
              </a:spcAft>
            </a:pPr>
            <a:r>
              <a:rPr sz="1200" b="0" i="0">
                <a:solidFill>
                  <a:srgbClr val="8EA2BB"/>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37744"/>
            <a:ext cx="9144000" cy="256032"/>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TESTING AND VALIDATION</a:t>
            </a:r>
          </a:p>
        </p:txBody>
      </p:sp>
      <p:sp>
        <p:nvSpPr>
          <p:cNvPr id="4" name="TextBox 3"/>
          <p:cNvSpPr txBox="1"/>
          <p:nvPr/>
        </p:nvSpPr>
        <p:spPr>
          <a:xfrm>
            <a:off x="384048" y="475488"/>
            <a:ext cx="11338560" cy="438912"/>
          </a:xfrm>
          <a:prstGeom prst="rect">
            <a:avLst/>
          </a:prstGeom>
          <a:noFill/>
        </p:spPr>
        <p:txBody>
          <a:bodyPr wrap="square" anchor="t" lIns="0" rIns="0" tIns="0" bIns="0"/>
          <a:lstStyle/>
          <a:p>
            <a:pPr algn="l">
              <a:spcBef>
                <a:spcPts val="0"/>
              </a:spcBef>
              <a:spcAft>
                <a:spcPts val="200"/>
              </a:spcAft>
            </a:pPr>
            <a:r>
              <a:rPr sz="3000" b="1" i="0">
                <a:solidFill>
                  <a:srgbClr val="FFFFFF"/>
                </a:solidFill>
                <a:latin typeface="Calibri"/>
              </a:rPr>
              <a:t>Results from this workspace, 19 October 2026</a:t>
            </a:r>
          </a:p>
        </p:txBody>
      </p:sp>
      <p:sp>
        <p:nvSpPr>
          <p:cNvPr id="5" name="Rounded Rectangle 4"/>
          <p:cNvSpPr/>
          <p:nvPr/>
        </p:nvSpPr>
        <p:spPr>
          <a:xfrm>
            <a:off x="384048" y="1143000"/>
            <a:ext cx="3657600" cy="132588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261872"/>
            <a:ext cx="3291840" cy="219456"/>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BACKEND PYTEST</a:t>
            </a:r>
          </a:p>
        </p:txBody>
      </p:sp>
      <p:sp>
        <p:nvSpPr>
          <p:cNvPr id="7" name="TextBox 6"/>
          <p:cNvSpPr txBox="1"/>
          <p:nvPr/>
        </p:nvSpPr>
        <p:spPr>
          <a:xfrm>
            <a:off x="566928" y="1554480"/>
            <a:ext cx="3291840" cy="640080"/>
          </a:xfrm>
          <a:prstGeom prst="rect">
            <a:avLst/>
          </a:prstGeom>
          <a:noFill/>
        </p:spPr>
        <p:txBody>
          <a:bodyPr wrap="square" anchor="t" lIns="0" rIns="0" tIns="0" bIns="0"/>
          <a:lstStyle/>
          <a:p>
            <a:pPr algn="l">
              <a:spcBef>
                <a:spcPts val="0"/>
              </a:spcBef>
              <a:spcAft>
                <a:spcPts val="200"/>
              </a:spcAft>
            </a:pPr>
            <a:r>
              <a:rPr sz="2000" b="1" i="0">
                <a:solidFill>
                  <a:srgbClr val="FFFFFF"/>
                </a:solidFill>
                <a:latin typeface="Calibri"/>
              </a:rPr>
              <a:t>25 passed    ·    1 skipped</a:t>
            </a:r>
          </a:p>
        </p:txBody>
      </p:sp>
      <p:sp>
        <p:nvSpPr>
          <p:cNvPr id="8" name="Rounded Rectangle 7"/>
          <p:cNvSpPr/>
          <p:nvPr/>
        </p:nvSpPr>
        <p:spPr>
          <a:xfrm>
            <a:off x="4206240" y="1143000"/>
            <a:ext cx="3657600" cy="132588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261872"/>
            <a:ext cx="3291840" cy="219456"/>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FRONTEND VITEST</a:t>
            </a:r>
          </a:p>
        </p:txBody>
      </p:sp>
      <p:sp>
        <p:nvSpPr>
          <p:cNvPr id="10" name="TextBox 9"/>
          <p:cNvSpPr txBox="1"/>
          <p:nvPr/>
        </p:nvSpPr>
        <p:spPr>
          <a:xfrm>
            <a:off x="4389120" y="1554480"/>
            <a:ext cx="3291840" cy="640080"/>
          </a:xfrm>
          <a:prstGeom prst="rect">
            <a:avLst/>
          </a:prstGeom>
          <a:noFill/>
        </p:spPr>
        <p:txBody>
          <a:bodyPr wrap="square" anchor="t" lIns="0" rIns="0" tIns="0" bIns="0"/>
          <a:lstStyle/>
          <a:p>
            <a:pPr algn="l">
              <a:spcBef>
                <a:spcPts val="0"/>
              </a:spcBef>
              <a:spcAft>
                <a:spcPts val="200"/>
              </a:spcAft>
            </a:pPr>
            <a:r>
              <a:rPr sz="2000" b="1" i="0">
                <a:solidFill>
                  <a:srgbClr val="FFFFFF"/>
                </a:solidFill>
                <a:latin typeface="Calibri"/>
              </a:rPr>
              <a:t>19 passed    ·    6 files</a:t>
            </a:r>
          </a:p>
        </p:txBody>
      </p:sp>
      <p:sp>
        <p:nvSpPr>
          <p:cNvPr id="11" name="Rounded Rectangle 10"/>
          <p:cNvSpPr/>
          <p:nvPr/>
        </p:nvSpPr>
        <p:spPr>
          <a:xfrm>
            <a:off x="8028431" y="1143000"/>
            <a:ext cx="3767328" cy="132588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261872"/>
            <a:ext cx="3429000" cy="219456"/>
          </a:xfrm>
          <a:prstGeom prst="rect">
            <a:avLst/>
          </a:prstGeom>
          <a:noFill/>
        </p:spPr>
        <p:txBody>
          <a:bodyPr wrap="square" anchor="t" lIns="0" rIns="0" tIns="0" bIns="0"/>
          <a:lstStyle/>
          <a:p>
            <a:pPr algn="l">
              <a:spcBef>
                <a:spcPts val="0"/>
              </a:spcBef>
              <a:spcAft>
                <a:spcPts val="200"/>
              </a:spcAft>
            </a:pPr>
            <a:r>
              <a:rPr sz="1200" b="1" i="0">
                <a:solidFill>
                  <a:srgbClr val="F5C16C"/>
                </a:solidFill>
                <a:latin typeface="Calibri"/>
              </a:rPr>
              <a:t>LIVE OSV TEST</a:t>
            </a:r>
          </a:p>
        </p:txBody>
      </p:sp>
      <p:sp>
        <p:nvSpPr>
          <p:cNvPr id="13" name="TextBox 12"/>
          <p:cNvSpPr txBox="1"/>
          <p:nvPr/>
        </p:nvSpPr>
        <p:spPr>
          <a:xfrm>
            <a:off x="8211312" y="1554480"/>
            <a:ext cx="3429000" cy="685800"/>
          </a:xfrm>
          <a:prstGeom prst="rect">
            <a:avLst/>
          </a:prstGeom>
          <a:noFill/>
        </p:spPr>
        <p:txBody>
          <a:bodyPr wrap="square" anchor="t" lIns="0" rIns="0" tIns="0" bIns="0"/>
          <a:lstStyle/>
          <a:p>
            <a:pPr algn="l">
              <a:spcBef>
                <a:spcPts val="0"/>
              </a:spcBef>
              <a:spcAft>
                <a:spcPts val="200"/>
              </a:spcAft>
            </a:pPr>
            <a:r>
              <a:rPr sz="1600" b="1" i="0">
                <a:solidFill>
                  <a:srgbClr val="FFFFFF"/>
                </a:solidFill>
                <a:latin typeface="Calibri"/>
              </a:rPr>
              <a:t>Skipped unless</a:t>
            </a:r>
          </a:p>
          <a:p>
            <a:pPr algn="l">
              <a:spcBef>
                <a:spcPts val="0"/>
              </a:spcBef>
              <a:spcAft>
                <a:spcPts val="200"/>
              </a:spcAft>
            </a:pPr>
            <a:r>
              <a:rPr sz="1600" b="1" i="0">
                <a:solidFill>
                  <a:srgbClr val="FFFFFF"/>
                </a:solidFill>
                <a:latin typeface="Calibri"/>
              </a:rPr>
              <a:t>CRYPTOGUARD_LIVE_API=1</a:t>
            </a:r>
          </a:p>
        </p:txBody>
      </p:sp>
      <p:graphicFrame>
        <p:nvGraphicFramePr>
          <p:cNvPr id="14" name="Table 13"/>
          <p:cNvGraphicFramePr>
            <a:graphicFrameLocks noGrp="1"/>
          </p:cNvGraphicFramePr>
          <p:nvPr/>
        </p:nvGraphicFramePr>
        <p:xfrm>
          <a:off x="384048" y="2651760"/>
          <a:ext cx="11411712" cy="3035808"/>
        </p:xfrm>
        <a:graphic>
          <a:graphicData uri="http://schemas.openxmlformats.org/drawingml/2006/table">
            <a:tbl>
              <a:tblPr firstRow="1" bandRow="1">
                <a:tableStyleId>{5C22544A-7EE6-4342-B048-85BDC9FD1C3A}</a:tableStyleId>
              </a:tblPr>
              <a:tblGrid>
                <a:gridCol w="5029200"/>
                <a:gridCol w="3931920"/>
                <a:gridCol w="2450592"/>
              </a:tblGrid>
              <a:tr h="384048">
                <a:tc>
                  <a:txBody>
                    <a:bodyPr wrap="square"/>
                    <a:lstStyle/>
                    <a:p>
                      <a:pPr algn="l"/>
                      <a:r>
                        <a:rPr sz="1300" b="1" i="0">
                          <a:solidFill>
                            <a:srgbClr val="FFFFFF"/>
                          </a:solidFill>
                          <a:latin typeface="Calibri"/>
                        </a:rPr>
                        <a:t>Scenario covered by the suite</a:t>
                      </a:r>
                    </a:p>
                  </a:txBody>
                  <a:tcPr anchor="ctr" marL="73152" marR="73152" marT="36576" marB="36576">
                    <a:solidFill>
                      <a:srgbClr val="1A2840"/>
                    </a:solidFill>
                  </a:tcPr>
                </a:tc>
                <a:tc>
                  <a:txBody>
                    <a:bodyPr wrap="square"/>
                    <a:lstStyle/>
                    <a:p>
                      <a:pPr algn="l"/>
                      <a:r>
                        <a:rPr sz="1300" b="1" i="0">
                          <a:solidFill>
                            <a:srgbClr val="FFFFFF"/>
                          </a:solidFill>
                          <a:latin typeface="Calibri"/>
                        </a:rPr>
                        <a:t>Expected outcome</a:t>
                      </a:r>
                    </a:p>
                  </a:txBody>
                  <a:tcPr anchor="ctr" marL="73152" marR="73152" marT="36576" marB="36576">
                    <a:solidFill>
                      <a:srgbClr val="1A2840"/>
                    </a:solidFill>
                  </a:tcPr>
                </a:tc>
                <a:tc>
                  <a:txBody>
                    <a:bodyPr wrap="square"/>
                    <a:lstStyle/>
                    <a:p>
                      <a:pPr algn="l"/>
                      <a:r>
                        <a:rPr sz="1300" b="1" i="0">
                          <a:solidFill>
                            <a:srgbClr val="FFFFFF"/>
                          </a:solidFill>
                          <a:latin typeface="Calibri"/>
                        </a:rPr>
                        <a:t>This run</a:t>
                      </a:r>
                    </a:p>
                  </a:txBody>
                  <a:tcPr anchor="ctr" marL="73152" marR="73152" marT="36576" marB="36576">
                    <a:solidFill>
                      <a:srgbClr val="1A2840"/>
                    </a:solidFill>
                  </a:tcPr>
                </a:tc>
              </a:tr>
              <a:tr h="530352">
                <a:tc>
                  <a:txBody>
                    <a:bodyPr wrap="square"/>
                    <a:lstStyle/>
                    <a:p>
                      <a:pPr algn="l"/>
                      <a:r>
                        <a:rPr sz="1300" b="0" i="0">
                          <a:solidFill>
                            <a:srgbClr val="FFFFFF"/>
                          </a:solidFill>
                          <a:latin typeface="Calibri"/>
                        </a:rPr>
                        <a:t>SHA-256 match and mismatch</a:t>
                      </a:r>
                    </a:p>
                  </a:txBody>
                  <a:tcPr anchor="ctr" marL="73152" marR="73152" marT="36576" marB="36576">
                    <a:solidFill>
                      <a:srgbClr val="152034"/>
                    </a:solidFill>
                  </a:tcPr>
                </a:tc>
                <a:tc>
                  <a:txBody>
                    <a:bodyPr wrap="square"/>
                    <a:lstStyle/>
                    <a:p>
                      <a:pPr algn="l"/>
                      <a:r>
                        <a:rPr sz="1300" b="0" i="0">
                          <a:solidFill>
                            <a:srgbClr val="FFFFFF"/>
                          </a:solidFill>
                          <a:latin typeface="Calibri"/>
                        </a:rPr>
                        <a:t>MATCH and MISMATCH</a:t>
                      </a:r>
                    </a:p>
                  </a:txBody>
                  <a:tcPr anchor="ctr" marL="73152" marR="73152" marT="36576" marB="36576">
                    <a:solidFill>
                      <a:srgbClr val="152034"/>
                    </a:solidFill>
                  </a:tcPr>
                </a:tc>
                <a:tc>
                  <a:txBody>
                    <a:bodyPr wrap="square"/>
                    <a:lstStyle/>
                    <a:p>
                      <a:pPr algn="l"/>
                      <a:r>
                        <a:rPr sz="1300" b="1" i="0">
                          <a:solidFill>
                            <a:srgbClr val="3DDC97"/>
                          </a:solidFill>
                          <a:latin typeface="Calibri"/>
                        </a:rPr>
                        <a:t>Passed</a:t>
                      </a:r>
                    </a:p>
                  </a:txBody>
                  <a:tcPr anchor="ctr" marL="73152" marR="73152" marT="36576" marB="36576">
                    <a:solidFill>
                      <a:srgbClr val="152034"/>
                    </a:solidFill>
                  </a:tcPr>
                </a:tc>
              </a:tr>
              <a:tr h="530352">
                <a:tc>
                  <a:txBody>
                    <a:bodyPr wrap="square"/>
                    <a:lstStyle/>
                    <a:p>
                      <a:pPr algn="l"/>
                      <a:r>
                        <a:rPr sz="1300" b="0" i="0">
                          <a:solidFill>
                            <a:srgbClr val="FFFFFF"/>
                          </a:solidFill>
                          <a:latin typeface="Calibri"/>
                        </a:rPr>
                        <a:t>HMAC tamper; secret not in SQLite</a:t>
                      </a:r>
                    </a:p>
                  </a:txBody>
                  <a:tcPr anchor="ctr" marL="73152" marR="73152" marT="36576" marB="36576">
                    <a:solidFill>
                      <a:srgbClr val="152034"/>
                    </a:solidFill>
                  </a:tcPr>
                </a:tc>
                <a:tc>
                  <a:txBody>
                    <a:bodyPr wrap="square"/>
                    <a:lstStyle/>
                    <a:p>
                      <a:pPr algn="l"/>
                      <a:r>
                        <a:rPr sz="1300" b="0" i="0">
                          <a:solidFill>
                            <a:srgbClr val="FFFFFF"/>
                          </a:solidFill>
                          <a:latin typeface="Calibri"/>
                        </a:rPr>
                        <a:t>VALID, then INVALID</a:t>
                      </a:r>
                    </a:p>
                  </a:txBody>
                  <a:tcPr anchor="ctr" marL="73152" marR="73152" marT="36576" marB="36576">
                    <a:solidFill>
                      <a:srgbClr val="152034"/>
                    </a:solidFill>
                  </a:tcPr>
                </a:tc>
                <a:tc>
                  <a:txBody>
                    <a:bodyPr wrap="square"/>
                    <a:lstStyle/>
                    <a:p>
                      <a:pPr algn="l"/>
                      <a:r>
                        <a:rPr sz="1300" b="1" i="0">
                          <a:solidFill>
                            <a:srgbClr val="3DDC97"/>
                          </a:solidFill>
                          <a:latin typeface="Calibri"/>
                        </a:rPr>
                        <a:t>Passed</a:t>
                      </a:r>
                    </a:p>
                  </a:txBody>
                  <a:tcPr anchor="ctr" marL="73152" marR="73152" marT="36576" marB="36576">
                    <a:solidFill>
                      <a:srgbClr val="152034"/>
                    </a:solidFill>
                  </a:tcPr>
                </a:tc>
              </a:tr>
              <a:tr h="530352">
                <a:tc>
                  <a:txBody>
                    <a:bodyPr wrap="square"/>
                    <a:lstStyle/>
                    <a:p>
                      <a:pPr algn="l"/>
                      <a:r>
                        <a:rPr sz="1300" b="0" i="0">
                          <a:solidFill>
                            <a:srgbClr val="FFFFFF"/>
                          </a:solidFill>
                          <a:latin typeface="Calibri"/>
                        </a:rPr>
                        <a:t>RSA-PSS tamper, wrong key, 1024-bit key</a:t>
                      </a:r>
                    </a:p>
                  </a:txBody>
                  <a:tcPr anchor="ctr" marL="73152" marR="73152" marT="36576" marB="36576">
                    <a:solidFill>
                      <a:srgbClr val="152034"/>
                    </a:solidFill>
                  </a:tcPr>
                </a:tc>
                <a:tc>
                  <a:txBody>
                    <a:bodyPr wrap="square"/>
                    <a:lstStyle/>
                    <a:p>
                      <a:pPr algn="l"/>
                      <a:r>
                        <a:rPr sz="1300" b="0" i="0">
                          <a:solidFill>
                            <a:srgbClr val="FFFFFF"/>
                          </a:solidFill>
                          <a:latin typeface="Calibri"/>
                        </a:rPr>
                        <a:t>VALID, INVALID, HTTP 400</a:t>
                      </a:r>
                    </a:p>
                  </a:txBody>
                  <a:tcPr anchor="ctr" marL="73152" marR="73152" marT="36576" marB="36576">
                    <a:solidFill>
                      <a:srgbClr val="152034"/>
                    </a:solidFill>
                  </a:tcPr>
                </a:tc>
                <a:tc>
                  <a:txBody>
                    <a:bodyPr wrap="square"/>
                    <a:lstStyle/>
                    <a:p>
                      <a:pPr algn="l"/>
                      <a:r>
                        <a:rPr sz="1300" b="1" i="0">
                          <a:solidFill>
                            <a:srgbClr val="3DDC97"/>
                          </a:solidFill>
                          <a:latin typeface="Calibri"/>
                        </a:rPr>
                        <a:t>Passed</a:t>
                      </a:r>
                    </a:p>
                  </a:txBody>
                  <a:tcPr anchor="ctr" marL="73152" marR="73152" marT="36576" marB="36576">
                    <a:solidFill>
                      <a:srgbClr val="152034"/>
                    </a:solidFill>
                  </a:tcPr>
                </a:tc>
              </a:tr>
              <a:tr h="530352">
                <a:tc>
                  <a:txBody>
                    <a:bodyPr wrap="square"/>
                    <a:lstStyle/>
                    <a:p>
                      <a:pPr algn="l"/>
                      <a:r>
                        <a:rPr sz="1300" b="0" i="0">
                          <a:solidFill>
                            <a:srgbClr val="FFFFFF"/>
                          </a:solidFill>
                          <a:latin typeface="Calibri"/>
                        </a:rPr>
                        <a:t>History detail, CSV export, delete</a:t>
                      </a:r>
                    </a:p>
                  </a:txBody>
                  <a:tcPr anchor="ctr" marL="73152" marR="73152" marT="36576" marB="36576">
                    <a:solidFill>
                      <a:srgbClr val="152034"/>
                    </a:solidFill>
                  </a:tcPr>
                </a:tc>
                <a:tc>
                  <a:txBody>
                    <a:bodyPr wrap="square"/>
                    <a:lstStyle/>
                    <a:p>
                      <a:pPr algn="l"/>
                      <a:r>
                        <a:rPr sz="1300" b="0" i="0">
                          <a:solidFill>
                            <a:srgbClr val="FFFFFF"/>
                          </a:solidFill>
                          <a:latin typeface="Calibri"/>
                        </a:rPr>
                        <a:t>Row, CSV, then 404</a:t>
                      </a:r>
                    </a:p>
                  </a:txBody>
                  <a:tcPr anchor="ctr" marL="73152" marR="73152" marT="36576" marB="36576">
                    <a:solidFill>
                      <a:srgbClr val="152034"/>
                    </a:solidFill>
                  </a:tcPr>
                </a:tc>
                <a:tc>
                  <a:txBody>
                    <a:bodyPr wrap="square"/>
                    <a:lstStyle/>
                    <a:p>
                      <a:pPr algn="l"/>
                      <a:r>
                        <a:rPr sz="1300" b="1" i="0">
                          <a:solidFill>
                            <a:srgbClr val="3DDC97"/>
                          </a:solidFill>
                          <a:latin typeface="Calibri"/>
                        </a:rPr>
                        <a:t>Passed</a:t>
                      </a:r>
                    </a:p>
                  </a:txBody>
                  <a:tcPr anchor="ctr" marL="73152" marR="73152" marT="36576" marB="36576">
                    <a:solidFill>
                      <a:srgbClr val="152034"/>
                    </a:solidFill>
                  </a:tcPr>
                </a:tc>
              </a:tr>
              <a:tr h="530352">
                <a:tc>
                  <a:txBody>
                    <a:bodyPr wrap="square"/>
                    <a:lstStyle/>
                    <a:p>
                      <a:pPr algn="l"/>
                      <a:r>
                        <a:rPr sz="1300" b="0" i="0">
                          <a:solidFill>
                            <a:srgbClr val="FFFFFF"/>
                          </a:solidFill>
                          <a:latin typeface="Calibri"/>
                        </a:rPr>
                        <a:t>Frontend PASS / FAIL labels</a:t>
                      </a:r>
                    </a:p>
                  </a:txBody>
                  <a:tcPr anchor="ctr" marL="73152" marR="73152" marT="36576" marB="36576">
                    <a:solidFill>
                      <a:srgbClr val="152034"/>
                    </a:solidFill>
                  </a:tcPr>
                </a:tc>
                <a:tc>
                  <a:txBody>
                    <a:bodyPr wrap="square"/>
                    <a:lstStyle/>
                    <a:p>
                      <a:pPr algn="l"/>
                      <a:r>
                        <a:rPr sz="1300" b="0" i="0">
                          <a:solidFill>
                            <a:srgbClr val="FFFFFF"/>
                          </a:solidFill>
                          <a:latin typeface="Calibri"/>
                        </a:rPr>
                        <a:t>MATCH shown as PASS</a:t>
                      </a:r>
                    </a:p>
                  </a:txBody>
                  <a:tcPr anchor="ctr" marL="73152" marR="73152" marT="36576" marB="36576">
                    <a:solidFill>
                      <a:srgbClr val="152034"/>
                    </a:solidFill>
                  </a:tcPr>
                </a:tc>
                <a:tc>
                  <a:txBody>
                    <a:bodyPr wrap="square"/>
                    <a:lstStyle/>
                    <a:p>
                      <a:pPr algn="l"/>
                      <a:r>
                        <a:rPr sz="1300" b="1" i="0">
                          <a:solidFill>
                            <a:srgbClr val="3DDC97"/>
                          </a:solidFill>
                          <a:latin typeface="Calibri"/>
                        </a:rPr>
                        <a:t>Passed</a:t>
                      </a:r>
                    </a:p>
                  </a:txBody>
                  <a:tcPr anchor="ctr" marL="73152" marR="73152" marT="36576" marB="36576">
                    <a:solidFill>
                      <a:srgbClr val="152034"/>
                    </a:solidFill>
                  </a:tcPr>
                </a:tc>
              </a:tr>
            </a:tbl>
          </a:graphicData>
        </a:graphic>
      </p:graphicFrame>
      <p:sp>
        <p:nvSpPr>
          <p:cNvPr id="15" name="TextBox 14"/>
          <p:cNvSpPr txBox="1"/>
          <p:nvPr/>
        </p:nvSpPr>
        <p:spPr>
          <a:xfrm>
            <a:off x="347472" y="6528816"/>
            <a:ext cx="9326880" cy="237744"/>
          </a:xfrm>
          <a:prstGeom prst="rect">
            <a:avLst/>
          </a:prstGeom>
          <a:noFill/>
        </p:spPr>
        <p:txBody>
          <a:bodyPr wrap="square" anchor="t" lIns="0" rIns="0" tIns="0" bIns="0"/>
          <a:lstStyle/>
          <a:p>
            <a:pPr algn="l">
              <a:spcBef>
                <a:spcPts val="0"/>
              </a:spcBef>
              <a:spcAft>
                <a:spcPts val="200"/>
              </a:spcAft>
            </a:pPr>
            <a:r>
              <a:rPr sz="1200" b="0" i="0">
                <a:solidFill>
                  <a:srgbClr val="8EA2BB"/>
                </a:solidFill>
                <a:latin typeface="Calibri"/>
              </a:rPr>
              <a:t>CryptoGuard   ·   Testing</a:t>
            </a:r>
          </a:p>
        </p:txBody>
      </p:sp>
      <p:sp>
        <p:nvSpPr>
          <p:cNvPr id="16" name="TextBox 15"/>
          <p:cNvSpPr txBox="1"/>
          <p:nvPr/>
        </p:nvSpPr>
        <p:spPr>
          <a:xfrm>
            <a:off x="10515600" y="6528816"/>
            <a:ext cx="1325880" cy="237744"/>
          </a:xfrm>
          <a:prstGeom prst="rect">
            <a:avLst/>
          </a:prstGeom>
          <a:noFill/>
        </p:spPr>
        <p:txBody>
          <a:bodyPr wrap="square" anchor="t" lIns="0" rIns="0" tIns="0" bIns="0"/>
          <a:lstStyle/>
          <a:p>
            <a:pPr algn="r">
              <a:spcBef>
                <a:spcPts val="0"/>
              </a:spcBef>
              <a:spcAft>
                <a:spcPts val="200"/>
              </a:spcAft>
            </a:pPr>
            <a:r>
              <a:rPr sz="1200" b="0" i="0">
                <a:solidFill>
                  <a:srgbClr val="8EA2BB"/>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37744"/>
            <a:ext cx="9144000" cy="256032"/>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SECURITY ANALYSIS</a:t>
            </a:r>
          </a:p>
        </p:txBody>
      </p:sp>
      <p:sp>
        <p:nvSpPr>
          <p:cNvPr id="4" name="TextBox 3"/>
          <p:cNvSpPr txBox="1"/>
          <p:nvPr/>
        </p:nvSpPr>
        <p:spPr>
          <a:xfrm>
            <a:off x="384048" y="475488"/>
            <a:ext cx="11338560" cy="438912"/>
          </a:xfrm>
          <a:prstGeom prst="rect">
            <a:avLst/>
          </a:prstGeom>
          <a:noFill/>
        </p:spPr>
        <p:txBody>
          <a:bodyPr wrap="square" anchor="t" lIns="0" rIns="0" tIns="0" bIns="0"/>
          <a:lstStyle/>
          <a:p>
            <a:pPr algn="l">
              <a:spcBef>
                <a:spcPts val="0"/>
              </a:spcBef>
              <a:spcAft>
                <a:spcPts val="200"/>
              </a:spcAft>
            </a:pPr>
            <a:r>
              <a:rPr sz="3000" b="1" i="0">
                <a:solidFill>
                  <a:srgbClr val="FFFFFF"/>
                </a:solidFill>
                <a:latin typeface="Calibri"/>
              </a:rPr>
              <a:t>What the checks cover, and what they assume</a:t>
            </a:r>
          </a:p>
        </p:txBody>
      </p:sp>
      <p:sp>
        <p:nvSpPr>
          <p:cNvPr id="5" name="Rounded Rectangle 4"/>
          <p:cNvSpPr/>
          <p:nvPr/>
        </p:nvSpPr>
        <p:spPr>
          <a:xfrm>
            <a:off x="384048" y="1188720"/>
            <a:ext cx="3703320" cy="416052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3337560" cy="292608"/>
          </a:xfrm>
          <a:prstGeom prst="rect">
            <a:avLst/>
          </a:prstGeom>
          <a:noFill/>
        </p:spPr>
        <p:txBody>
          <a:bodyPr wrap="square" anchor="t" lIns="0" rIns="0" tIns="0" bIns="0"/>
          <a:lstStyle/>
          <a:p>
            <a:pPr algn="l">
              <a:spcBef>
                <a:spcPts val="0"/>
              </a:spcBef>
              <a:spcAft>
                <a:spcPts val="200"/>
              </a:spcAft>
            </a:pPr>
            <a:r>
              <a:rPr sz="1400" b="1" i="0">
                <a:solidFill>
                  <a:srgbClr val="3DDC97"/>
                </a:solidFill>
                <a:latin typeface="Calibri"/>
              </a:rPr>
              <a:t>COVERED</a:t>
            </a:r>
          </a:p>
        </p:txBody>
      </p:sp>
      <p:sp>
        <p:nvSpPr>
          <p:cNvPr id="7" name="TextBox 6"/>
          <p:cNvSpPr txBox="1"/>
          <p:nvPr/>
        </p:nvSpPr>
        <p:spPr>
          <a:xfrm>
            <a:off x="566928" y="1828800"/>
            <a:ext cx="3337560" cy="3200400"/>
          </a:xfrm>
          <a:prstGeom prst="rect">
            <a:avLst/>
          </a:prstGeom>
          <a:noFill/>
        </p:spPr>
        <p:txBody>
          <a:bodyPr wrap="square" anchor="t" lIns="0" rIns="0" tIns="0" bIns="0"/>
          <a:lstStyle/>
          <a:p>
            <a:pPr algn="l">
              <a:spcBef>
                <a:spcPts val="0"/>
              </a:spcBef>
              <a:spcAft>
                <a:spcPts val="800"/>
              </a:spcAft>
            </a:pPr>
            <a:r>
              <a:rPr sz="1500" b="0" i="0">
                <a:solidFill>
                  <a:srgbClr val="C5D2E4"/>
                </a:solidFill>
                <a:latin typeface="Calibri"/>
              </a:rPr>
              <a:t>Byte change against a reference</a:t>
            </a:r>
          </a:p>
          <a:p>
            <a:pPr algn="l">
              <a:spcBef>
                <a:spcPts val="0"/>
              </a:spcBef>
              <a:spcAft>
                <a:spcPts val="800"/>
              </a:spcAft>
            </a:pPr>
            <a:r>
              <a:rPr sz="1500" b="0" i="0">
                <a:solidFill>
                  <a:srgbClr val="C5D2E4"/>
                </a:solidFill>
                <a:latin typeface="Calibri"/>
              </a:rPr>
              <a:t>HMAC tag mismatch</a:t>
            </a:r>
          </a:p>
          <a:p>
            <a:pPr algn="l">
              <a:spcBef>
                <a:spcPts val="0"/>
              </a:spcBef>
              <a:spcAft>
                <a:spcPts val="800"/>
              </a:spcAft>
            </a:pPr>
            <a:r>
              <a:rPr sz="1500" b="0" i="0">
                <a:solidFill>
                  <a:srgbClr val="C5D2E4"/>
                </a:solidFill>
                <a:latin typeface="Calibri"/>
              </a:rPr>
              <a:t>RSA-PSS rejection</a:t>
            </a:r>
          </a:p>
          <a:p>
            <a:pPr algn="l">
              <a:spcBef>
                <a:spcPts val="0"/>
              </a:spcBef>
              <a:spcAft>
                <a:spcPts val="800"/>
              </a:spcAft>
            </a:pPr>
            <a:r>
              <a:rPr sz="1500" b="0" i="0">
                <a:solidFill>
                  <a:srgbClr val="C5D2E4"/>
                </a:solidFill>
                <a:latin typeface="Calibri"/>
              </a:rPr>
              <a:t>Secrets kept out of SQLite</a:t>
            </a:r>
          </a:p>
          <a:p>
            <a:pPr algn="l">
              <a:spcBef>
                <a:spcPts val="0"/>
              </a:spcBef>
              <a:spcAft>
                <a:spcPts val="800"/>
              </a:spcAft>
            </a:pPr>
            <a:r>
              <a:rPr sz="1500" b="0" i="0">
                <a:solidFill>
                  <a:srgbClr val="C5D2E4"/>
                </a:solidFill>
                <a:latin typeface="Calibri"/>
              </a:rPr>
              <a:t>10 MiB upload limit</a:t>
            </a:r>
          </a:p>
        </p:txBody>
      </p:sp>
      <p:sp>
        <p:nvSpPr>
          <p:cNvPr id="8" name="Rounded Rectangle 7"/>
          <p:cNvSpPr/>
          <p:nvPr/>
        </p:nvSpPr>
        <p:spPr>
          <a:xfrm>
            <a:off x="4270248" y="1188720"/>
            <a:ext cx="3703320" cy="416052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53128" y="1353312"/>
            <a:ext cx="3337560" cy="292608"/>
          </a:xfrm>
          <a:prstGeom prst="rect">
            <a:avLst/>
          </a:prstGeom>
          <a:noFill/>
        </p:spPr>
        <p:txBody>
          <a:bodyPr wrap="square" anchor="t" lIns="0" rIns="0" tIns="0" bIns="0"/>
          <a:lstStyle/>
          <a:p>
            <a:pPr algn="l">
              <a:spcBef>
                <a:spcPts val="0"/>
              </a:spcBef>
              <a:spcAft>
                <a:spcPts val="200"/>
              </a:spcAft>
            </a:pPr>
            <a:r>
              <a:rPr sz="1400" b="1" i="0">
                <a:solidFill>
                  <a:srgbClr val="4CC9F0"/>
                </a:solidFill>
                <a:latin typeface="Calibri"/>
              </a:rPr>
              <a:t>ASSUMED</a:t>
            </a:r>
          </a:p>
        </p:txBody>
      </p:sp>
      <p:sp>
        <p:nvSpPr>
          <p:cNvPr id="10" name="TextBox 9"/>
          <p:cNvSpPr txBox="1"/>
          <p:nvPr/>
        </p:nvSpPr>
        <p:spPr>
          <a:xfrm>
            <a:off x="4453128" y="1828800"/>
            <a:ext cx="3337560" cy="3200400"/>
          </a:xfrm>
          <a:prstGeom prst="rect">
            <a:avLst/>
          </a:prstGeom>
          <a:noFill/>
        </p:spPr>
        <p:txBody>
          <a:bodyPr wrap="square" anchor="t" lIns="0" rIns="0" tIns="0" bIns="0"/>
          <a:lstStyle/>
          <a:p>
            <a:pPr algn="l">
              <a:spcBef>
                <a:spcPts val="0"/>
              </a:spcBef>
              <a:spcAft>
                <a:spcPts val="800"/>
              </a:spcAft>
            </a:pPr>
            <a:r>
              <a:rPr sz="1500" b="0" i="0">
                <a:solidFill>
                  <a:srgbClr val="C5D2E4"/>
                </a:solidFill>
                <a:latin typeface="Calibri"/>
              </a:rPr>
              <a:t>The reference digest is honest</a:t>
            </a:r>
          </a:p>
          <a:p>
            <a:pPr algn="l">
              <a:spcBef>
                <a:spcPts val="0"/>
              </a:spcBef>
              <a:spcAft>
                <a:spcPts val="800"/>
              </a:spcAft>
            </a:pPr>
            <a:r>
              <a:rPr sz="1500" b="0" i="0">
                <a:solidFill>
                  <a:srgbClr val="C5D2E4"/>
                </a:solidFill>
                <a:latin typeface="Calibri"/>
              </a:rPr>
              <a:t>The public key is the right one</a:t>
            </a:r>
          </a:p>
          <a:p>
            <a:pPr algn="l">
              <a:spcBef>
                <a:spcPts val="0"/>
              </a:spcBef>
              <a:spcAft>
                <a:spcPts val="800"/>
              </a:spcAft>
            </a:pPr>
            <a:r>
              <a:rPr sz="1500" b="0" i="0">
                <a:solidFill>
                  <a:srgbClr val="C5D2E4"/>
                </a:solidFill>
                <a:latin typeface="Calibri"/>
              </a:rPr>
              <a:t>The local API is the one you started</a:t>
            </a:r>
          </a:p>
          <a:p>
            <a:pPr algn="l">
              <a:spcBef>
                <a:spcPts val="0"/>
              </a:spcBef>
              <a:spcAft>
                <a:spcPts val="800"/>
              </a:spcAft>
            </a:pPr>
            <a:r>
              <a:rPr sz="1500" b="0" i="0">
                <a:solidFill>
                  <a:srgbClr val="C5D2E4"/>
                </a:solidFill>
                <a:latin typeface="Calibri"/>
              </a:rPr>
              <a:t>The operator protects key material</a:t>
            </a:r>
          </a:p>
        </p:txBody>
      </p:sp>
      <p:sp>
        <p:nvSpPr>
          <p:cNvPr id="11" name="Rounded Rectangle 10"/>
          <p:cNvSpPr/>
          <p:nvPr/>
        </p:nvSpPr>
        <p:spPr>
          <a:xfrm>
            <a:off x="8156448" y="1188720"/>
            <a:ext cx="3703320" cy="416052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39327" y="1353312"/>
            <a:ext cx="3337560" cy="292608"/>
          </a:xfrm>
          <a:prstGeom prst="rect">
            <a:avLst/>
          </a:prstGeom>
          <a:noFill/>
        </p:spPr>
        <p:txBody>
          <a:bodyPr wrap="square" anchor="t" lIns="0" rIns="0" tIns="0" bIns="0"/>
          <a:lstStyle/>
          <a:p>
            <a:pPr algn="l">
              <a:spcBef>
                <a:spcPts val="0"/>
              </a:spcBef>
              <a:spcAft>
                <a:spcPts val="200"/>
              </a:spcAft>
            </a:pPr>
            <a:r>
              <a:rPr sz="1400" b="1" i="0">
                <a:solidFill>
                  <a:srgbClr val="F5C16C"/>
                </a:solidFill>
                <a:latin typeface="Calibri"/>
              </a:rPr>
              <a:t>STILL OPEN</a:t>
            </a:r>
          </a:p>
        </p:txBody>
      </p:sp>
      <p:sp>
        <p:nvSpPr>
          <p:cNvPr id="13" name="TextBox 12"/>
          <p:cNvSpPr txBox="1"/>
          <p:nvPr/>
        </p:nvSpPr>
        <p:spPr>
          <a:xfrm>
            <a:off x="8339327" y="1828800"/>
            <a:ext cx="3337560" cy="3200400"/>
          </a:xfrm>
          <a:prstGeom prst="rect">
            <a:avLst/>
          </a:prstGeom>
          <a:noFill/>
        </p:spPr>
        <p:txBody>
          <a:bodyPr wrap="square" anchor="t" lIns="0" rIns="0" tIns="0" bIns="0"/>
          <a:lstStyle/>
          <a:p>
            <a:pPr algn="l">
              <a:spcBef>
                <a:spcPts val="0"/>
              </a:spcBef>
              <a:spcAft>
                <a:spcPts val="800"/>
              </a:spcAft>
            </a:pPr>
            <a:r>
              <a:rPr sz="1500" b="0" i="0">
                <a:solidFill>
                  <a:srgbClr val="C5D2E4"/>
                </a:solidFill>
                <a:latin typeface="Calibri"/>
              </a:rPr>
              <a:t>A malicious reference digest</a:t>
            </a:r>
          </a:p>
          <a:p>
            <a:pPr algn="l">
              <a:spcBef>
                <a:spcPts val="0"/>
              </a:spcBef>
              <a:spcAft>
                <a:spcPts val="800"/>
              </a:spcAft>
            </a:pPr>
            <a:r>
              <a:rPr sz="1500" b="0" i="0">
                <a:solidFill>
                  <a:srgbClr val="C5D2E4"/>
                </a:solidFill>
                <a:latin typeface="Calibri"/>
              </a:rPr>
              <a:t>A leaked HMAC secret</a:t>
            </a:r>
          </a:p>
          <a:p>
            <a:pPr algn="l">
              <a:spcBef>
                <a:spcPts val="0"/>
              </a:spcBef>
              <a:spcAft>
                <a:spcPts val="800"/>
              </a:spcAft>
            </a:pPr>
            <a:r>
              <a:rPr sz="1500" b="0" i="0">
                <a:solidFill>
                  <a:srgbClr val="C5D2E4"/>
                </a:solidFill>
                <a:latin typeface="Calibri"/>
              </a:rPr>
              <a:t>A leaked RSA private key</a:t>
            </a:r>
          </a:p>
          <a:p>
            <a:pPr algn="l">
              <a:spcBef>
                <a:spcPts val="0"/>
              </a:spcBef>
              <a:spcAft>
                <a:spcPts val="800"/>
              </a:spcAft>
            </a:pPr>
            <a:r>
              <a:rPr sz="1500" b="0" i="0">
                <a:solidFill>
                  <a:srgbClr val="C5D2E4"/>
                </a:solidFill>
                <a:latin typeface="Calibri"/>
              </a:rPr>
              <a:t>No malware detection</a:t>
            </a:r>
          </a:p>
          <a:p>
            <a:pPr algn="l">
              <a:spcBef>
                <a:spcPts val="0"/>
              </a:spcBef>
              <a:spcAft>
                <a:spcPts val="800"/>
              </a:spcAft>
            </a:pPr>
            <a:r>
              <a:rPr sz="1500" b="0" i="0">
                <a:solidFill>
                  <a:srgbClr val="C5D2E4"/>
                </a:solidFill>
                <a:latin typeface="Calibri"/>
              </a:rPr>
              <a:t>No user accounts</a:t>
            </a:r>
          </a:p>
        </p:txBody>
      </p:sp>
      <p:sp>
        <p:nvSpPr>
          <p:cNvPr id="14" name="TextBox 13"/>
          <p:cNvSpPr txBox="1"/>
          <p:nvPr/>
        </p:nvSpPr>
        <p:spPr>
          <a:xfrm>
            <a:off x="384048" y="5532120"/>
            <a:ext cx="11338560" cy="777240"/>
          </a:xfrm>
          <a:prstGeom prst="rect">
            <a:avLst/>
          </a:prstGeom>
          <a:noFill/>
        </p:spPr>
        <p:txBody>
          <a:bodyPr wrap="square" anchor="t" lIns="0" rIns="0" tIns="0" bIns="0"/>
          <a:lstStyle/>
          <a:p>
            <a:pPr algn="l">
              <a:spcBef>
                <a:spcPts val="0"/>
              </a:spcBef>
              <a:spcAft>
                <a:spcPts val="200"/>
              </a:spcAft>
            </a:pPr>
            <a:r>
              <a:rPr sz="1500" b="0" i="0">
                <a:solidFill>
                  <a:srgbClr val="C5D2E4"/>
                </a:solidFill>
                <a:latin typeface="Calibri"/>
              </a:rPr>
              <a:t>If the backend is down, the page reports that it cannot reach CryptoGuard. That error is not shown as a cryptographic FAIL.</a:t>
            </a:r>
          </a:p>
        </p:txBody>
      </p:sp>
      <p:sp>
        <p:nvSpPr>
          <p:cNvPr id="15" name="TextBox 14"/>
          <p:cNvSpPr txBox="1"/>
          <p:nvPr/>
        </p:nvSpPr>
        <p:spPr>
          <a:xfrm>
            <a:off x="347472" y="6528816"/>
            <a:ext cx="9326880" cy="237744"/>
          </a:xfrm>
          <a:prstGeom prst="rect">
            <a:avLst/>
          </a:prstGeom>
          <a:noFill/>
        </p:spPr>
        <p:txBody>
          <a:bodyPr wrap="square" anchor="t" lIns="0" rIns="0" tIns="0" bIns="0"/>
          <a:lstStyle/>
          <a:p>
            <a:pPr algn="l">
              <a:spcBef>
                <a:spcPts val="0"/>
              </a:spcBef>
              <a:spcAft>
                <a:spcPts val="200"/>
              </a:spcAft>
            </a:pPr>
            <a:r>
              <a:rPr sz="1200" b="0" i="0">
                <a:solidFill>
                  <a:srgbClr val="8EA2BB"/>
                </a:solidFill>
                <a:latin typeface="Calibri"/>
              </a:rPr>
              <a:t>CryptoGuard   ·   Security</a:t>
            </a:r>
          </a:p>
        </p:txBody>
      </p:sp>
      <p:sp>
        <p:nvSpPr>
          <p:cNvPr id="16" name="TextBox 15"/>
          <p:cNvSpPr txBox="1"/>
          <p:nvPr/>
        </p:nvSpPr>
        <p:spPr>
          <a:xfrm>
            <a:off x="10515600" y="6528816"/>
            <a:ext cx="1325880" cy="237744"/>
          </a:xfrm>
          <a:prstGeom prst="rect">
            <a:avLst/>
          </a:prstGeom>
          <a:noFill/>
        </p:spPr>
        <p:txBody>
          <a:bodyPr wrap="square" anchor="t" lIns="0" rIns="0" tIns="0" bIns="0"/>
          <a:lstStyle/>
          <a:p>
            <a:pPr algn="r">
              <a:spcBef>
                <a:spcPts val="0"/>
              </a:spcBef>
              <a:spcAft>
                <a:spcPts val="200"/>
              </a:spcAft>
            </a:pPr>
            <a:r>
              <a:rPr sz="1200" b="0" i="0">
                <a:solidFill>
                  <a:srgbClr val="8EA2BB"/>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37744"/>
            <a:ext cx="9144000" cy="256032"/>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LIMITATIONS AND FUTURE SCOPE</a:t>
            </a:r>
          </a:p>
        </p:txBody>
      </p:sp>
      <p:sp>
        <p:nvSpPr>
          <p:cNvPr id="4" name="TextBox 3"/>
          <p:cNvSpPr txBox="1"/>
          <p:nvPr/>
        </p:nvSpPr>
        <p:spPr>
          <a:xfrm>
            <a:off x="384048" y="475488"/>
            <a:ext cx="11338560" cy="438912"/>
          </a:xfrm>
          <a:prstGeom prst="rect">
            <a:avLst/>
          </a:prstGeom>
          <a:noFill/>
        </p:spPr>
        <p:txBody>
          <a:bodyPr wrap="square" anchor="t" lIns="0" rIns="0" tIns="0" bIns="0"/>
          <a:lstStyle/>
          <a:p>
            <a:pPr algn="l">
              <a:spcBef>
                <a:spcPts val="0"/>
              </a:spcBef>
              <a:spcAft>
                <a:spcPts val="200"/>
              </a:spcAft>
            </a:pPr>
            <a:r>
              <a:rPr sz="3000" b="1" i="0">
                <a:solidFill>
                  <a:srgbClr val="FFFFFF"/>
                </a:solidFill>
                <a:latin typeface="Calibri"/>
              </a:rPr>
              <a:t>Implemented now, proposed later</a:t>
            </a:r>
          </a:p>
        </p:txBody>
      </p:sp>
      <p:sp>
        <p:nvSpPr>
          <p:cNvPr id="5" name="Rounded Rectangle 4"/>
          <p:cNvSpPr/>
          <p:nvPr/>
        </p:nvSpPr>
        <p:spPr>
          <a:xfrm>
            <a:off x="384048" y="1170432"/>
            <a:ext cx="5669280" cy="498348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1335024"/>
            <a:ext cx="5303520" cy="274320"/>
          </a:xfrm>
          <a:prstGeom prst="rect">
            <a:avLst/>
          </a:prstGeom>
          <a:noFill/>
        </p:spPr>
        <p:txBody>
          <a:bodyPr wrap="square" anchor="t" lIns="0" rIns="0" tIns="0" bIns="0"/>
          <a:lstStyle/>
          <a:p>
            <a:pPr algn="l">
              <a:spcBef>
                <a:spcPts val="0"/>
              </a:spcBef>
              <a:spcAft>
                <a:spcPts val="200"/>
              </a:spcAft>
            </a:pPr>
            <a:r>
              <a:rPr sz="1300" b="1" i="0">
                <a:solidFill>
                  <a:srgbClr val="3DDC97"/>
                </a:solidFill>
                <a:latin typeface="Calibri"/>
              </a:rPr>
              <a:t>IN THIS PROJECT</a:t>
            </a:r>
          </a:p>
        </p:txBody>
      </p:sp>
      <p:sp>
        <p:nvSpPr>
          <p:cNvPr id="7" name="TextBox 6"/>
          <p:cNvSpPr txBox="1"/>
          <p:nvPr/>
        </p:nvSpPr>
        <p:spPr>
          <a:xfrm>
            <a:off x="585216" y="1783080"/>
            <a:ext cx="5257800" cy="4023360"/>
          </a:xfrm>
          <a:prstGeom prst="rect">
            <a:avLst/>
          </a:prstGeom>
          <a:noFill/>
        </p:spPr>
        <p:txBody>
          <a:bodyPr wrap="square" anchor="t" lIns="0" rIns="0" tIns="0" bIns="0"/>
          <a:lstStyle/>
          <a:p>
            <a:pPr algn="l">
              <a:spcBef>
                <a:spcPts val="0"/>
              </a:spcBef>
              <a:spcAft>
                <a:spcPts val="800"/>
              </a:spcAft>
            </a:pPr>
            <a:r>
              <a:rPr sz="1600" b="0" i="0">
                <a:solidFill>
                  <a:srgbClr val="FFFFFF"/>
                </a:solidFill>
                <a:latin typeface="Calibri"/>
              </a:rPr>
              <a:t>SHA-256 hash and reference comparison</a:t>
            </a:r>
          </a:p>
          <a:p>
            <a:pPr algn="l">
              <a:spcBef>
                <a:spcPts val="0"/>
              </a:spcBef>
              <a:spcAft>
                <a:spcPts val="800"/>
              </a:spcAft>
            </a:pPr>
            <a:r>
              <a:rPr sz="1600" b="0" i="0">
                <a:solidFill>
                  <a:srgbClr val="FFFFFF"/>
                </a:solidFill>
                <a:latin typeface="Calibri"/>
              </a:rPr>
              <a:t>HMAC-SHA256 generate and verify</a:t>
            </a:r>
          </a:p>
          <a:p>
            <a:pPr algn="l">
              <a:spcBef>
                <a:spcPts val="0"/>
              </a:spcBef>
              <a:spcAft>
                <a:spcPts val="800"/>
              </a:spcAft>
            </a:pPr>
            <a:r>
              <a:rPr sz="1600" b="0" i="0">
                <a:solidFill>
                  <a:srgbClr val="FFFFFF"/>
                </a:solidFill>
                <a:latin typeface="Calibri"/>
              </a:rPr>
              <a:t>RSA-2048 key pair, sign, and verify</a:t>
            </a:r>
          </a:p>
          <a:p>
            <a:pPr algn="l">
              <a:spcBef>
                <a:spcPts val="0"/>
              </a:spcBef>
              <a:spcAft>
                <a:spcPts val="800"/>
              </a:spcAft>
            </a:pPr>
            <a:r>
              <a:rPr sz="1600" b="0" i="0">
                <a:solidFill>
                  <a:srgbClr val="FFFFFF"/>
                </a:solidFill>
                <a:latin typeface="Calibri"/>
              </a:rPr>
              <a:t>Canonical provenance record</a:t>
            </a:r>
          </a:p>
          <a:p>
            <a:pPr algn="l">
              <a:spcBef>
                <a:spcPts val="0"/>
              </a:spcBef>
              <a:spcAft>
                <a:spcPts val="800"/>
              </a:spcAft>
            </a:pPr>
            <a:r>
              <a:rPr sz="1600" b="0" i="0">
                <a:solidFill>
                  <a:srgbClr val="FFFFFF"/>
                </a:solidFill>
                <a:latin typeface="Calibri"/>
              </a:rPr>
              <a:t>OSV query and CycloneDX 1.7 SBOM</a:t>
            </a:r>
          </a:p>
          <a:p>
            <a:pPr algn="l">
              <a:spcBef>
                <a:spcPts val="0"/>
              </a:spcBef>
              <a:spcAft>
                <a:spcPts val="800"/>
              </a:spcAft>
            </a:pPr>
            <a:r>
              <a:rPr sz="1600" b="0" i="0">
                <a:solidFill>
                  <a:srgbClr val="FFFFFF"/>
                </a:solidFill>
                <a:latin typeface="Calibri"/>
              </a:rPr>
              <a:t>SQLite history, CSV, and JSON report</a:t>
            </a:r>
          </a:p>
        </p:txBody>
      </p:sp>
      <p:sp>
        <p:nvSpPr>
          <p:cNvPr id="8" name="Rounded Rectangle 7"/>
          <p:cNvSpPr/>
          <p:nvPr/>
        </p:nvSpPr>
        <p:spPr>
          <a:xfrm>
            <a:off x="6236208" y="1170432"/>
            <a:ext cx="5559552" cy="4983480"/>
          </a:xfrm>
          <a:prstGeom prst="roundRect">
            <a:avLst>
              <a:gd name="adj" fmla="val 8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37376" y="1335024"/>
            <a:ext cx="5166360" cy="274320"/>
          </a:xfrm>
          <a:prstGeom prst="rect">
            <a:avLst/>
          </a:prstGeom>
          <a:noFill/>
        </p:spPr>
        <p:txBody>
          <a:bodyPr wrap="square" anchor="t" lIns="0" rIns="0" tIns="0" bIns="0"/>
          <a:lstStyle/>
          <a:p>
            <a:pPr algn="l">
              <a:spcBef>
                <a:spcPts val="0"/>
              </a:spcBef>
              <a:spcAft>
                <a:spcPts val="200"/>
              </a:spcAft>
            </a:pPr>
            <a:r>
              <a:rPr sz="1300" b="1" i="0">
                <a:solidFill>
                  <a:srgbClr val="F5C16C"/>
                </a:solidFill>
                <a:latin typeface="Calibri"/>
              </a:rPr>
              <a:t>NOT IN THIS PROJECT</a:t>
            </a:r>
          </a:p>
        </p:txBody>
      </p:sp>
      <p:sp>
        <p:nvSpPr>
          <p:cNvPr id="10" name="TextBox 9"/>
          <p:cNvSpPr txBox="1"/>
          <p:nvPr/>
        </p:nvSpPr>
        <p:spPr>
          <a:xfrm>
            <a:off x="6437376" y="1783080"/>
            <a:ext cx="5120640" cy="4023360"/>
          </a:xfrm>
          <a:prstGeom prst="rect">
            <a:avLst/>
          </a:prstGeom>
          <a:noFill/>
        </p:spPr>
        <p:txBody>
          <a:bodyPr wrap="square" anchor="t" lIns="0" rIns="0" tIns="0" bIns="0"/>
          <a:lstStyle/>
          <a:p>
            <a:pPr algn="l">
              <a:spcBef>
                <a:spcPts val="0"/>
              </a:spcBef>
              <a:spcAft>
                <a:spcPts val="800"/>
              </a:spcAft>
            </a:pPr>
            <a:r>
              <a:rPr sz="1600" b="0" i="0">
                <a:solidFill>
                  <a:srgbClr val="FFFFFF"/>
                </a:solidFill>
                <a:latin typeface="Calibri"/>
              </a:rPr>
              <a:t>User accounts and key custody</a:t>
            </a:r>
          </a:p>
          <a:p>
            <a:pPr algn="l">
              <a:spcBef>
                <a:spcPts val="0"/>
              </a:spcBef>
              <a:spcAft>
                <a:spcPts val="800"/>
              </a:spcAft>
            </a:pPr>
            <a:r>
              <a:rPr sz="1600" b="0" i="0">
                <a:solidFill>
                  <a:srgbClr val="FFFFFF"/>
                </a:solidFill>
                <a:latin typeface="Calibri"/>
              </a:rPr>
              <a:t>Malware or package-name reputation</a:t>
            </a:r>
          </a:p>
          <a:p>
            <a:pPr algn="l">
              <a:spcBef>
                <a:spcPts val="0"/>
              </a:spcBef>
              <a:spcAft>
                <a:spcPts val="800"/>
              </a:spcAft>
            </a:pPr>
            <a:r>
              <a:rPr sz="1600" b="0" i="0">
                <a:solidFill>
                  <a:srgbClr val="FFFFFF"/>
                </a:solidFill>
                <a:latin typeface="Calibri"/>
              </a:rPr>
              <a:t>Full SLSA, in-toto, or Sigstore</a:t>
            </a:r>
          </a:p>
          <a:p>
            <a:pPr algn="l">
              <a:spcBef>
                <a:spcPts val="0"/>
              </a:spcBef>
              <a:spcAft>
                <a:spcPts val="800"/>
              </a:spcAft>
            </a:pPr>
            <a:r>
              <a:rPr sz="1600" b="0" i="0">
                <a:solidFill>
                  <a:srgbClr val="FFFFFF"/>
                </a:solidFill>
                <a:latin typeface="Calibri"/>
              </a:rPr>
              <a:t>Package installation or script execution</a:t>
            </a:r>
          </a:p>
          <a:p>
            <a:pPr algn="l">
              <a:spcBef>
                <a:spcPts val="0"/>
              </a:spcBef>
              <a:spcAft>
                <a:spcPts val="800"/>
              </a:spcAft>
            </a:pPr>
            <a:r>
              <a:rPr sz="1600" b="0" i="0">
                <a:solidFill>
                  <a:srgbClr val="FFFFFF"/>
                </a:solidFill>
                <a:latin typeface="Calibri"/>
              </a:rPr>
              <a:t>NVD enabled by default</a:t>
            </a:r>
          </a:p>
          <a:p>
            <a:pPr algn="l">
              <a:spcBef>
                <a:spcPts val="0"/>
              </a:spcBef>
              <a:spcAft>
                <a:spcPts val="800"/>
              </a:spcAft>
            </a:pPr>
            <a:r>
              <a:rPr sz="1600" b="0" i="0">
                <a:solidFill>
                  <a:srgbClr val="FFFFFF"/>
                </a:solidFill>
                <a:latin typeface="Calibri"/>
              </a:rPr>
              <a:t>A tested PostgreSQL deployment</a:t>
            </a:r>
          </a:p>
        </p:txBody>
      </p:sp>
      <p:sp>
        <p:nvSpPr>
          <p:cNvPr id="11" name="TextBox 10"/>
          <p:cNvSpPr txBox="1"/>
          <p:nvPr/>
        </p:nvSpPr>
        <p:spPr>
          <a:xfrm>
            <a:off x="347472" y="6528816"/>
            <a:ext cx="9326880" cy="237744"/>
          </a:xfrm>
          <a:prstGeom prst="rect">
            <a:avLst/>
          </a:prstGeom>
          <a:noFill/>
        </p:spPr>
        <p:txBody>
          <a:bodyPr wrap="square" anchor="t" lIns="0" rIns="0" tIns="0" bIns="0"/>
          <a:lstStyle/>
          <a:p>
            <a:pPr algn="l">
              <a:spcBef>
                <a:spcPts val="0"/>
              </a:spcBef>
              <a:spcAft>
                <a:spcPts val="200"/>
              </a:spcAft>
            </a:pPr>
            <a:r>
              <a:rPr sz="1200" b="0" i="0">
                <a:solidFill>
                  <a:srgbClr val="8EA2BB"/>
                </a:solidFill>
                <a:latin typeface="Calibri"/>
              </a:rPr>
              <a:t>CryptoGuard   ·   Limitations</a:t>
            </a:r>
          </a:p>
        </p:txBody>
      </p:sp>
      <p:sp>
        <p:nvSpPr>
          <p:cNvPr id="12" name="TextBox 11"/>
          <p:cNvSpPr txBox="1"/>
          <p:nvPr/>
        </p:nvSpPr>
        <p:spPr>
          <a:xfrm>
            <a:off x="10515600" y="6528816"/>
            <a:ext cx="1325880" cy="237744"/>
          </a:xfrm>
          <a:prstGeom prst="rect">
            <a:avLst/>
          </a:prstGeom>
          <a:noFill/>
        </p:spPr>
        <p:txBody>
          <a:bodyPr wrap="square" anchor="t" lIns="0" rIns="0" tIns="0" bIns="0"/>
          <a:lstStyle/>
          <a:p>
            <a:pPr algn="r">
              <a:spcBef>
                <a:spcPts val="0"/>
              </a:spcBef>
              <a:spcAft>
                <a:spcPts val="200"/>
              </a:spcAft>
            </a:pPr>
            <a:r>
              <a:rPr sz="1200" b="0" i="0">
                <a:solidFill>
                  <a:srgbClr val="8EA2BB"/>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237744"/>
            <a:ext cx="9144000" cy="256032"/>
          </a:xfrm>
          <a:prstGeom prst="rect">
            <a:avLst/>
          </a:prstGeom>
          <a:noFill/>
        </p:spPr>
        <p:txBody>
          <a:bodyPr wrap="square" anchor="t" lIns="0" rIns="0" tIns="0" bIns="0"/>
          <a:lstStyle/>
          <a:p>
            <a:pPr algn="l">
              <a:spcBef>
                <a:spcPts val="0"/>
              </a:spcBef>
              <a:spcAft>
                <a:spcPts val="200"/>
              </a:spcAft>
            </a:pPr>
            <a:r>
              <a:rPr sz="1200" b="1" i="0">
                <a:solidFill>
                  <a:srgbClr val="4CC9F0"/>
                </a:solidFill>
                <a:latin typeface="Calibri"/>
              </a:rPr>
              <a:t>CONCLUSION</a:t>
            </a:r>
          </a:p>
        </p:txBody>
      </p:sp>
      <p:sp>
        <p:nvSpPr>
          <p:cNvPr id="4" name="TextBox 3"/>
          <p:cNvSpPr txBox="1"/>
          <p:nvPr/>
        </p:nvSpPr>
        <p:spPr>
          <a:xfrm>
            <a:off x="384048" y="475488"/>
            <a:ext cx="11338560" cy="438912"/>
          </a:xfrm>
          <a:prstGeom prst="rect">
            <a:avLst/>
          </a:prstGeom>
          <a:noFill/>
        </p:spPr>
        <p:txBody>
          <a:bodyPr wrap="square" anchor="t" lIns="0" rIns="0" tIns="0" bIns="0"/>
          <a:lstStyle/>
          <a:p>
            <a:pPr algn="l">
              <a:spcBef>
                <a:spcPts val="0"/>
              </a:spcBef>
              <a:spcAft>
                <a:spcPts val="200"/>
              </a:spcAft>
            </a:pPr>
            <a:r>
              <a:rPr sz="3000" b="1" i="0">
                <a:solidFill>
                  <a:srgbClr val="FFFFFF"/>
                </a:solidFill>
                <a:latin typeface="Calibri"/>
              </a:rPr>
              <a:t>Evidence, labeled honestly</a:t>
            </a:r>
          </a:p>
        </p:txBody>
      </p:sp>
      <p:sp>
        <p:nvSpPr>
          <p:cNvPr id="5" name="Rounded Rectangle 4"/>
          <p:cNvSpPr/>
          <p:nvPr/>
        </p:nvSpPr>
        <p:spPr>
          <a:xfrm>
            <a:off x="384048" y="1170432"/>
            <a:ext cx="11430000" cy="987552"/>
          </a:xfrm>
          <a:prstGeom prst="roundRect">
            <a:avLst>
              <a:gd name="adj" fmla="val 12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1316736"/>
            <a:ext cx="2194560" cy="640080"/>
          </a:xfrm>
          <a:prstGeom prst="rect">
            <a:avLst/>
          </a:prstGeom>
          <a:noFill/>
        </p:spPr>
        <p:txBody>
          <a:bodyPr wrap="square" anchor="ctr" lIns="0" rIns="0" tIns="0" bIns="0"/>
          <a:lstStyle/>
          <a:p>
            <a:pPr algn="l">
              <a:spcBef>
                <a:spcPts val="0"/>
              </a:spcBef>
              <a:spcAft>
                <a:spcPts val="200"/>
              </a:spcAft>
            </a:pPr>
            <a:r>
              <a:rPr sz="1600" b="1" i="0">
                <a:solidFill>
                  <a:srgbClr val="4CC9F0"/>
                </a:solidFill>
                <a:latin typeface="Calibri"/>
              </a:rPr>
              <a:t>Integrity</a:t>
            </a:r>
          </a:p>
        </p:txBody>
      </p:sp>
      <p:sp>
        <p:nvSpPr>
          <p:cNvPr id="7" name="TextBox 6"/>
          <p:cNvSpPr txBox="1"/>
          <p:nvPr/>
        </p:nvSpPr>
        <p:spPr>
          <a:xfrm>
            <a:off x="2926080" y="1371600"/>
            <a:ext cx="8595360" cy="621792"/>
          </a:xfrm>
          <a:prstGeom prst="rect">
            <a:avLst/>
          </a:prstGeom>
          <a:noFill/>
        </p:spPr>
        <p:txBody>
          <a:bodyPr wrap="square" anchor="ctr" lIns="0" rIns="0" tIns="0" bIns="0"/>
          <a:lstStyle/>
          <a:p>
            <a:pPr algn="l">
              <a:spcBef>
                <a:spcPts val="0"/>
              </a:spcBef>
              <a:spcAft>
                <a:spcPts val="200"/>
              </a:spcAft>
            </a:pPr>
            <a:r>
              <a:rPr sz="1600" b="0" i="0">
                <a:solidFill>
                  <a:srgbClr val="FFFFFF"/>
                </a:solidFill>
                <a:latin typeface="Calibri"/>
              </a:rPr>
              <a:t>A SHA-256 match means the file bytes equal the reference that was supplied.</a:t>
            </a:r>
          </a:p>
        </p:txBody>
      </p:sp>
      <p:sp>
        <p:nvSpPr>
          <p:cNvPr id="8" name="Rounded Rectangle 7"/>
          <p:cNvSpPr/>
          <p:nvPr/>
        </p:nvSpPr>
        <p:spPr>
          <a:xfrm>
            <a:off x="384048" y="2267712"/>
            <a:ext cx="11430000" cy="987552"/>
          </a:xfrm>
          <a:prstGeom prst="roundRect">
            <a:avLst>
              <a:gd name="adj" fmla="val 12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 y="2414016"/>
            <a:ext cx="2194560" cy="640080"/>
          </a:xfrm>
          <a:prstGeom prst="rect">
            <a:avLst/>
          </a:prstGeom>
          <a:noFill/>
        </p:spPr>
        <p:txBody>
          <a:bodyPr wrap="square" anchor="ctr" lIns="0" rIns="0" tIns="0" bIns="0"/>
          <a:lstStyle/>
          <a:p>
            <a:pPr algn="l">
              <a:spcBef>
                <a:spcPts val="0"/>
              </a:spcBef>
              <a:spcAft>
                <a:spcPts val="200"/>
              </a:spcAft>
            </a:pPr>
            <a:r>
              <a:rPr sz="1600" b="1" i="0">
                <a:solidFill>
                  <a:srgbClr val="4CC9F0"/>
                </a:solidFill>
                <a:latin typeface="Calibri"/>
              </a:rPr>
              <a:t>Authentication</a:t>
            </a:r>
          </a:p>
        </p:txBody>
      </p:sp>
      <p:sp>
        <p:nvSpPr>
          <p:cNvPr id="10" name="TextBox 9"/>
          <p:cNvSpPr txBox="1"/>
          <p:nvPr/>
        </p:nvSpPr>
        <p:spPr>
          <a:xfrm>
            <a:off x="2926080" y="2468880"/>
            <a:ext cx="8595360" cy="621792"/>
          </a:xfrm>
          <a:prstGeom prst="rect">
            <a:avLst/>
          </a:prstGeom>
          <a:noFill/>
        </p:spPr>
        <p:txBody>
          <a:bodyPr wrap="square" anchor="ctr" lIns="0" rIns="0" tIns="0" bIns="0"/>
          <a:lstStyle/>
          <a:p>
            <a:pPr algn="l">
              <a:spcBef>
                <a:spcPts val="0"/>
              </a:spcBef>
              <a:spcAft>
                <a:spcPts val="200"/>
              </a:spcAft>
            </a:pPr>
            <a:r>
              <a:rPr sz="1600" b="0" i="0">
                <a:solidFill>
                  <a:srgbClr val="FFFFFF"/>
                </a:solidFill>
                <a:latin typeface="Calibri"/>
              </a:rPr>
              <a:t>An HMAC-SHA256 tag authenticates a message only for holders of the shared secret.</a:t>
            </a:r>
          </a:p>
        </p:txBody>
      </p:sp>
      <p:sp>
        <p:nvSpPr>
          <p:cNvPr id="11" name="Rounded Rectangle 10"/>
          <p:cNvSpPr/>
          <p:nvPr/>
        </p:nvSpPr>
        <p:spPr>
          <a:xfrm>
            <a:off x="384048" y="3364991"/>
            <a:ext cx="11430000" cy="987552"/>
          </a:xfrm>
          <a:prstGeom prst="roundRect">
            <a:avLst>
              <a:gd name="adj" fmla="val 12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3511296"/>
            <a:ext cx="2194560" cy="640080"/>
          </a:xfrm>
          <a:prstGeom prst="rect">
            <a:avLst/>
          </a:prstGeom>
          <a:noFill/>
        </p:spPr>
        <p:txBody>
          <a:bodyPr wrap="square" anchor="ctr" lIns="0" rIns="0" tIns="0" bIns="0"/>
          <a:lstStyle/>
          <a:p>
            <a:pPr algn="l">
              <a:spcBef>
                <a:spcPts val="0"/>
              </a:spcBef>
              <a:spcAft>
                <a:spcPts val="200"/>
              </a:spcAft>
            </a:pPr>
            <a:r>
              <a:rPr sz="1600" b="1" i="0">
                <a:solidFill>
                  <a:srgbClr val="4CC9F0"/>
                </a:solidFill>
                <a:latin typeface="Calibri"/>
              </a:rPr>
              <a:t>Signature</a:t>
            </a:r>
          </a:p>
        </p:txBody>
      </p:sp>
      <p:sp>
        <p:nvSpPr>
          <p:cNvPr id="13" name="TextBox 12"/>
          <p:cNvSpPr txBox="1"/>
          <p:nvPr/>
        </p:nvSpPr>
        <p:spPr>
          <a:xfrm>
            <a:off x="2926080" y="3566160"/>
            <a:ext cx="8595360" cy="621792"/>
          </a:xfrm>
          <a:prstGeom prst="rect">
            <a:avLst/>
          </a:prstGeom>
          <a:noFill/>
        </p:spPr>
        <p:txBody>
          <a:bodyPr wrap="square" anchor="ctr" lIns="0" rIns="0" tIns="0" bIns="0"/>
          <a:lstStyle/>
          <a:p>
            <a:pPr algn="l">
              <a:spcBef>
                <a:spcPts val="0"/>
              </a:spcBef>
              <a:spcAft>
                <a:spcPts val="200"/>
              </a:spcAft>
            </a:pPr>
            <a:r>
              <a:rPr sz="1600" b="0" i="0">
                <a:solidFill>
                  <a:srgbClr val="FFFFFF"/>
                </a:solidFill>
                <a:latin typeface="Calibri"/>
              </a:rPr>
              <a:t>RSA-PSS shows that this public key accepts this signature over these bytes.</a:t>
            </a:r>
          </a:p>
        </p:txBody>
      </p:sp>
      <p:sp>
        <p:nvSpPr>
          <p:cNvPr id="14" name="Rounded Rectangle 13"/>
          <p:cNvSpPr/>
          <p:nvPr/>
        </p:nvSpPr>
        <p:spPr>
          <a:xfrm>
            <a:off x="384048" y="4462272"/>
            <a:ext cx="11430000" cy="987552"/>
          </a:xfrm>
          <a:prstGeom prst="roundRect">
            <a:avLst>
              <a:gd name="adj" fmla="val 12000"/>
            </a:avLst>
          </a:prstGeom>
          <a:solidFill>
            <a:srgbClr val="152034"/>
          </a:solidFill>
          <a:ln w="12700">
            <a:solidFill>
              <a:srgbClr val="2C3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 y="4608576"/>
            <a:ext cx="2194560" cy="640080"/>
          </a:xfrm>
          <a:prstGeom prst="rect">
            <a:avLst/>
          </a:prstGeom>
          <a:noFill/>
        </p:spPr>
        <p:txBody>
          <a:bodyPr wrap="square" anchor="ctr" lIns="0" rIns="0" tIns="0" bIns="0"/>
          <a:lstStyle/>
          <a:p>
            <a:pPr algn="l">
              <a:spcBef>
                <a:spcPts val="0"/>
              </a:spcBef>
              <a:spcAft>
                <a:spcPts val="200"/>
              </a:spcAft>
            </a:pPr>
            <a:r>
              <a:rPr sz="1600" b="1" i="0">
                <a:solidFill>
                  <a:srgbClr val="4CC9F0"/>
                </a:solidFill>
                <a:latin typeface="Calibri"/>
              </a:rPr>
              <a:t>Boundary</a:t>
            </a:r>
          </a:p>
        </p:txBody>
      </p:sp>
      <p:sp>
        <p:nvSpPr>
          <p:cNvPr id="16" name="TextBox 15"/>
          <p:cNvSpPr txBox="1"/>
          <p:nvPr/>
        </p:nvSpPr>
        <p:spPr>
          <a:xfrm>
            <a:off x="2926080" y="4663440"/>
            <a:ext cx="8595360" cy="621792"/>
          </a:xfrm>
          <a:prstGeom prst="rect">
            <a:avLst/>
          </a:prstGeom>
          <a:noFill/>
        </p:spPr>
        <p:txBody>
          <a:bodyPr wrap="square" anchor="ctr" lIns="0" rIns="0" tIns="0" bIns="0"/>
          <a:lstStyle/>
          <a:p>
            <a:pPr algn="l">
              <a:spcBef>
                <a:spcPts val="0"/>
              </a:spcBef>
              <a:spcAft>
                <a:spcPts val="200"/>
              </a:spcAft>
            </a:pPr>
            <a:r>
              <a:rPr sz="1600" b="0" i="0">
                <a:solidFill>
                  <a:srgbClr val="FFFFFF"/>
                </a:solidFill>
                <a:latin typeface="Calibri"/>
              </a:rPr>
              <a:t>None of the three results is a malware verdict or a full supply-chain attestation.</a:t>
            </a:r>
          </a:p>
        </p:txBody>
      </p:sp>
      <p:sp>
        <p:nvSpPr>
          <p:cNvPr id="17" name="TextBox 16"/>
          <p:cNvSpPr txBox="1"/>
          <p:nvPr/>
        </p:nvSpPr>
        <p:spPr>
          <a:xfrm>
            <a:off x="347472" y="6528816"/>
            <a:ext cx="9326880" cy="237744"/>
          </a:xfrm>
          <a:prstGeom prst="rect">
            <a:avLst/>
          </a:prstGeom>
          <a:noFill/>
        </p:spPr>
        <p:txBody>
          <a:bodyPr wrap="square" anchor="t" lIns="0" rIns="0" tIns="0" bIns="0"/>
          <a:lstStyle/>
          <a:p>
            <a:pPr algn="l">
              <a:spcBef>
                <a:spcPts val="0"/>
              </a:spcBef>
              <a:spcAft>
                <a:spcPts val="200"/>
              </a:spcAft>
            </a:pPr>
            <a:r>
              <a:rPr sz="1200" b="0" i="0">
                <a:solidFill>
                  <a:srgbClr val="8EA2BB"/>
                </a:solidFill>
                <a:latin typeface="Calibri"/>
              </a:rPr>
              <a:t>CryptoGuard   ·   Conclusion</a:t>
            </a:r>
          </a:p>
        </p:txBody>
      </p:sp>
      <p:sp>
        <p:nvSpPr>
          <p:cNvPr id="18" name="TextBox 17"/>
          <p:cNvSpPr txBox="1"/>
          <p:nvPr/>
        </p:nvSpPr>
        <p:spPr>
          <a:xfrm>
            <a:off x="10515600" y="6528816"/>
            <a:ext cx="1325880" cy="237744"/>
          </a:xfrm>
          <a:prstGeom prst="rect">
            <a:avLst/>
          </a:prstGeom>
          <a:noFill/>
        </p:spPr>
        <p:txBody>
          <a:bodyPr wrap="square" anchor="t" lIns="0" rIns="0" tIns="0" bIns="0"/>
          <a:lstStyle/>
          <a:p>
            <a:pPr algn="r">
              <a:spcBef>
                <a:spcPts val="0"/>
              </a:spcBef>
              <a:spcAft>
                <a:spcPts val="200"/>
              </a:spcAft>
            </a:pPr>
            <a:r>
              <a:rPr sz="1200" b="0" i="0">
                <a:solidFill>
                  <a:srgbClr val="8EA2BB"/>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554480"/>
            <a:ext cx="10972800" cy="365760"/>
          </a:xfrm>
          <a:prstGeom prst="rect">
            <a:avLst/>
          </a:prstGeom>
          <a:noFill/>
        </p:spPr>
        <p:txBody>
          <a:bodyPr wrap="square" anchor="t" lIns="0" rIns="0" tIns="0" bIns="0"/>
          <a:lstStyle/>
          <a:p>
            <a:pPr algn="l">
              <a:spcBef>
                <a:spcPts val="0"/>
              </a:spcBef>
              <a:spcAft>
                <a:spcPts val="200"/>
              </a:spcAft>
            </a:pPr>
            <a:r>
              <a:rPr sz="1400" b="1" i="0">
                <a:solidFill>
                  <a:srgbClr val="4CC9F0"/>
                </a:solidFill>
                <a:latin typeface="Calibri"/>
              </a:rPr>
              <a:t>CRYPTOGUARD</a:t>
            </a:r>
          </a:p>
        </p:txBody>
      </p:sp>
      <p:sp>
        <p:nvSpPr>
          <p:cNvPr id="4" name="TextBox 3"/>
          <p:cNvSpPr txBox="1"/>
          <p:nvPr/>
        </p:nvSpPr>
        <p:spPr>
          <a:xfrm>
            <a:off x="502920" y="2011680"/>
            <a:ext cx="10972800" cy="1005840"/>
          </a:xfrm>
          <a:prstGeom prst="rect">
            <a:avLst/>
          </a:prstGeom>
          <a:noFill/>
        </p:spPr>
        <p:txBody>
          <a:bodyPr wrap="square" anchor="t" lIns="0" rIns="0" tIns="0" bIns="0"/>
          <a:lstStyle/>
          <a:p>
            <a:pPr algn="l">
              <a:spcBef>
                <a:spcPts val="0"/>
              </a:spcBef>
              <a:spcAft>
                <a:spcPts val="200"/>
              </a:spcAft>
            </a:pPr>
            <a:r>
              <a:rPr sz="6000" b="1" i="0">
                <a:solidFill>
                  <a:srgbClr val="FFFFFF"/>
                </a:solidFill>
                <a:latin typeface="Calibri"/>
              </a:rPr>
              <a:t>Thank you.</a:t>
            </a:r>
          </a:p>
        </p:txBody>
      </p:sp>
      <p:sp>
        <p:nvSpPr>
          <p:cNvPr id="5" name="TextBox 4"/>
          <p:cNvSpPr txBox="1"/>
          <p:nvPr/>
        </p:nvSpPr>
        <p:spPr>
          <a:xfrm>
            <a:off x="502920" y="3200400"/>
            <a:ext cx="10972800" cy="640080"/>
          </a:xfrm>
          <a:prstGeom prst="rect">
            <a:avLst/>
          </a:prstGeom>
          <a:noFill/>
        </p:spPr>
        <p:txBody>
          <a:bodyPr wrap="square" anchor="t" lIns="0" rIns="0" tIns="0" bIns="0"/>
          <a:lstStyle/>
          <a:p>
            <a:pPr algn="l">
              <a:spcBef>
                <a:spcPts val="0"/>
              </a:spcBef>
              <a:spcAft>
                <a:spcPts val="200"/>
              </a:spcAft>
            </a:pPr>
            <a:r>
              <a:rPr sz="3600" b="1" i="0">
                <a:solidFill>
                  <a:srgbClr val="7DB7FF"/>
                </a:solidFill>
                <a:latin typeface="Calibri"/>
              </a:rPr>
              <a:t>Questions?</a:t>
            </a:r>
          </a:p>
        </p:txBody>
      </p:sp>
      <p:sp>
        <p:nvSpPr>
          <p:cNvPr id="6" name="TextBox 5"/>
          <p:cNvSpPr txBox="1"/>
          <p:nvPr/>
        </p:nvSpPr>
        <p:spPr>
          <a:xfrm>
            <a:off x="502920" y="4206240"/>
            <a:ext cx="10515600" cy="1188720"/>
          </a:xfrm>
          <a:prstGeom prst="rect">
            <a:avLst/>
          </a:prstGeom>
          <a:noFill/>
        </p:spPr>
        <p:txBody>
          <a:bodyPr wrap="square" anchor="t" lIns="0" rIns="0" tIns="0" bIns="0"/>
          <a:lstStyle/>
          <a:p>
            <a:pPr algn="l">
              <a:spcBef>
                <a:spcPts val="0"/>
              </a:spcBef>
              <a:spcAft>
                <a:spcPts val="400"/>
              </a:spcAft>
            </a:pPr>
            <a:r>
              <a:rPr sz="1600" b="0" i="0">
                <a:solidFill>
                  <a:srgbClr val="C5D2E4"/>
                </a:solidFill>
                <a:latin typeface="Calibri"/>
              </a:rPr>
              <a:t>Health    http://127.0.0.1:8000/api/health</a:t>
            </a:r>
          </a:p>
          <a:p>
            <a:pPr algn="l">
              <a:spcBef>
                <a:spcPts val="0"/>
              </a:spcBef>
              <a:spcAft>
                <a:spcPts val="400"/>
              </a:spcAft>
            </a:pPr>
            <a:r>
              <a:rPr sz="1600" b="0" i="0">
                <a:solidFill>
                  <a:srgbClr val="C5D2E4"/>
                </a:solidFill>
                <a:latin typeface="Calibri"/>
              </a:rPr>
              <a:t>API docs    http://127.0.0.1:8000/docs</a:t>
            </a:r>
          </a:p>
          <a:p>
            <a:pPr algn="l">
              <a:spcBef>
                <a:spcPts val="0"/>
              </a:spcBef>
              <a:spcAft>
                <a:spcPts val="400"/>
              </a:spcAft>
            </a:pPr>
            <a:r>
              <a:rPr sz="1600" b="0" i="0">
                <a:solidFill>
                  <a:srgbClr val="C5D2E4"/>
                </a:solidFill>
                <a:latin typeface="Calibri"/>
              </a:rPr>
              <a:t>Application    http://127.0.0.1:5173</a:t>
            </a:r>
          </a:p>
        </p:txBody>
      </p:sp>
      <p:sp>
        <p:nvSpPr>
          <p:cNvPr id="7" name="TextBox 6"/>
          <p:cNvSpPr txBox="1"/>
          <p:nvPr/>
        </p:nvSpPr>
        <p:spPr>
          <a:xfrm>
            <a:off x="347472" y="6528816"/>
            <a:ext cx="9326880" cy="237744"/>
          </a:xfrm>
          <a:prstGeom prst="rect">
            <a:avLst/>
          </a:prstGeom>
          <a:noFill/>
        </p:spPr>
        <p:txBody>
          <a:bodyPr wrap="square" anchor="t" lIns="0" rIns="0" tIns="0" bIns="0"/>
          <a:lstStyle/>
          <a:p>
            <a:pPr algn="l">
              <a:spcBef>
                <a:spcPts val="0"/>
              </a:spcBef>
              <a:spcAft>
                <a:spcPts val="200"/>
              </a:spcAft>
            </a:pPr>
            <a:r>
              <a:rPr sz="1200" b="0" i="0">
                <a:solidFill>
                  <a:srgbClr val="8EA2BB"/>
                </a:solidFill>
                <a:latin typeface="Calibri"/>
              </a:rPr>
              <a:t>CryptoGuard   ·   Close</a:t>
            </a:r>
          </a:p>
        </p:txBody>
      </p:sp>
      <p:sp>
        <p:nvSpPr>
          <p:cNvPr id="8" name="TextBox 7"/>
          <p:cNvSpPr txBox="1"/>
          <p:nvPr/>
        </p:nvSpPr>
        <p:spPr>
          <a:xfrm>
            <a:off x="10515600" y="6528816"/>
            <a:ext cx="1325880" cy="237744"/>
          </a:xfrm>
          <a:prstGeom prst="rect">
            <a:avLst/>
          </a:prstGeom>
          <a:noFill/>
        </p:spPr>
        <p:txBody>
          <a:bodyPr wrap="square" anchor="t" lIns="0" rIns="0" tIns="0" bIns="0"/>
          <a:lstStyle/>
          <a:p>
            <a:pPr algn="r">
              <a:spcBef>
                <a:spcPts val="0"/>
              </a:spcBef>
              <a:spcAft>
                <a:spcPts val="200"/>
              </a:spcAft>
            </a:pPr>
            <a:r>
              <a:rPr sz="1200" b="0" i="0">
                <a:solidFill>
                  <a:srgbClr val="8EA2BB"/>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CryptoGuard — HOD Presentation</dc:title>
  <dc:subject>Hash Functions, Message Authentication and Digital Signatures</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Academic presentation</cp:category>
</cp:coreProperties>
</file>